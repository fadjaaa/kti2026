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7-1.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B4E"/>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20143A"/>
          </a:solidFill>
          <a:ln/>
        </p:spPr>
      </p:sp>
      <p:sp>
        <p:nvSpPr>
          <p:cNvPr id="3" name="Text 1"/>
          <p:cNvSpPr/>
          <p:nvPr/>
        </p:nvSpPr>
        <p:spPr>
          <a:xfrm>
            <a:off x="640080" y="54864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rot="-600000">
            <a:off x="1463040" y="118872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5" name="Text 3"/>
          <p:cNvSpPr/>
          <p:nvPr/>
        </p:nvSpPr>
        <p:spPr>
          <a:xfrm rot="900000">
            <a:off x="10881360" y="512064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rot="1200000">
            <a:off x="11247120" y="64008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rot="600000">
            <a:off x="822960" y="566928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rot="-900000">
            <a:off x="10058400" y="146304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9" name="Text 7"/>
          <p:cNvSpPr/>
          <p:nvPr/>
        </p:nvSpPr>
        <p:spPr>
          <a:xfrm>
            <a:off x="822960" y="1417320"/>
            <a:ext cx="7315200" cy="365760"/>
          </a:xfrm>
          <a:prstGeom prst="rect">
            <a:avLst/>
          </a:prstGeom>
          <a:noFill/>
          <a:ln/>
        </p:spPr>
        <p:txBody>
          <a:bodyPr wrap="square" rtlCol="0" anchor="ctr"/>
          <a:lstStyle/>
          <a:p>
            <a:pPr indent="0" marL="0">
              <a:buNone/>
            </a:pPr>
            <a:r>
              <a:rPr lang="en-US" sz="1400" b="1" spc="300" kern="0" dirty="0">
                <a:solidFill>
                  <a:srgbClr val="E3B23C"/>
                </a:solidFill>
                <a:latin typeface="Calibri" pitchFamily="34" charset="0"/>
                <a:ea typeface="Calibri" pitchFamily="34" charset="-122"/>
                <a:cs typeface="Calibri" pitchFamily="34" charset="-120"/>
              </a:rPr>
              <a:t>KARYA TULIS ILMIAH</a:t>
            </a:r>
            <a:endParaRPr lang="en-US" sz="1400" dirty="0"/>
          </a:p>
        </p:txBody>
      </p:sp>
      <p:sp>
        <p:nvSpPr>
          <p:cNvPr id="10" name="Text 8"/>
          <p:cNvSpPr/>
          <p:nvPr/>
        </p:nvSpPr>
        <p:spPr>
          <a:xfrm>
            <a:off x="822960" y="1828800"/>
            <a:ext cx="9692640" cy="173736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Peran Musik Dalam</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Menciptakan Suasana Belajar</a:t>
            </a:r>
            <a:endParaRPr lang="en-US" sz="4000" dirty="0"/>
          </a:p>
        </p:txBody>
      </p:sp>
      <p:sp>
        <p:nvSpPr>
          <p:cNvPr id="11" name="Text 9"/>
          <p:cNvSpPr/>
          <p:nvPr/>
        </p:nvSpPr>
        <p:spPr>
          <a:xfrm>
            <a:off x="822960" y="3566160"/>
            <a:ext cx="9144000" cy="457200"/>
          </a:xfrm>
          <a:prstGeom prst="rect">
            <a:avLst/>
          </a:prstGeom>
          <a:noFill/>
          <a:ln/>
        </p:spPr>
        <p:txBody>
          <a:bodyPr wrap="square" rtlCol="0" anchor="ctr"/>
          <a:lstStyle/>
          <a:p>
            <a:pPr indent="0" marL="0">
              <a:buNone/>
            </a:pPr>
            <a:r>
              <a:rPr lang="en-US" sz="1500" i="1" dirty="0">
                <a:solidFill>
                  <a:srgbClr val="C9BBEA"/>
                </a:solidFill>
                <a:latin typeface="Calibri" pitchFamily="34" charset="0"/>
                <a:ea typeface="Calibri" pitchFamily="34" charset="-122"/>
                <a:cs typeface="Calibri" pitchFamily="34" charset="-120"/>
              </a:rPr>
              <a:t>Kenyamanan · Konsentrasi · Relaksasi · Motivasi Belajar</a:t>
            </a:r>
            <a:endParaRPr lang="en-US" sz="1500" dirty="0"/>
          </a:p>
        </p:txBody>
      </p:sp>
      <p:sp>
        <p:nvSpPr>
          <p:cNvPr id="12" name="Shape 10"/>
          <p:cNvSpPr/>
          <p:nvPr/>
        </p:nvSpPr>
        <p:spPr>
          <a:xfrm>
            <a:off x="822960" y="4251960"/>
            <a:ext cx="457200" cy="36576"/>
          </a:xfrm>
          <a:prstGeom prst="rect">
            <a:avLst/>
          </a:prstGeom>
          <a:solidFill>
            <a:srgbClr val="E3B23C"/>
          </a:solidFill>
          <a:ln/>
        </p:spPr>
      </p:sp>
      <p:sp>
        <p:nvSpPr>
          <p:cNvPr id="13" name="Shape 11"/>
          <p:cNvSpPr/>
          <p:nvPr/>
        </p:nvSpPr>
        <p:spPr>
          <a:xfrm>
            <a:off x="822960" y="4663440"/>
            <a:ext cx="566928" cy="566928"/>
          </a:xfrm>
          <a:prstGeom prst="ellipse">
            <a:avLst/>
          </a:prstGeom>
          <a:solidFill>
            <a:srgbClr val="E3B23C"/>
          </a:solidFill>
          <a:ln/>
        </p:spPr>
      </p:sp>
      <p:pic>
        <p:nvPicPr>
          <p:cNvPr id="14" name="Image 0" descr="/home/claude/kti-ppt/icon_music.png">    </p:cNvPr>
          <p:cNvPicPr>
            <a:picLocks noChangeAspect="1"/>
          </p:cNvPicPr>
          <p:nvPr/>
        </p:nvPicPr>
        <p:blipFill>
          <a:blip r:embed="rId1"/>
          <a:stretch>
            <a:fillRect/>
          </a:stretch>
        </p:blipFill>
        <p:spPr>
          <a:xfrm>
            <a:off x="970361" y="4810841"/>
            <a:ext cx="272125" cy="272125"/>
          </a:xfrm>
          <a:prstGeom prst="rect">
            <a:avLst/>
          </a:prstGeom>
        </p:spPr>
      </p:pic>
      <p:sp>
        <p:nvSpPr>
          <p:cNvPr id="15" name="Text 12"/>
          <p:cNvSpPr/>
          <p:nvPr/>
        </p:nvSpPr>
        <p:spPr>
          <a:xfrm>
            <a:off x="1554480" y="4681728"/>
            <a:ext cx="6400800" cy="292608"/>
          </a:xfrm>
          <a:prstGeom prst="rect">
            <a:avLst/>
          </a:prstGeom>
          <a:noFill/>
          <a:ln/>
        </p:spPr>
        <p:txBody>
          <a:bodyPr wrap="square" rtlCol="0" anchor="ctr"/>
          <a:lstStyle/>
          <a:p>
            <a:pPr indent="0" marL="0">
              <a:buNone/>
            </a:pPr>
            <a:r>
              <a:rPr lang="en-US" sz="1400" dirty="0">
                <a:solidFill>
                  <a:srgbClr val="C9BBEA"/>
                </a:solidFill>
                <a:latin typeface="Calibri" pitchFamily="34" charset="0"/>
                <a:ea typeface="Calibri" pitchFamily="34" charset="-122"/>
                <a:cs typeface="Calibri" pitchFamily="34" charset="-120"/>
              </a:rPr>
              <a:t>Disusun oleh </a:t>
            </a:r>
            <a:pPr indent="0" marL="0">
              <a:buNone/>
            </a:pPr>
            <a:r>
              <a:rPr lang="en-US" sz="1400" b="1" dirty="0">
                <a:solidFill>
                  <a:srgbClr val="FFFFFF"/>
                </a:solidFill>
                <a:latin typeface="Calibri" pitchFamily="34" charset="0"/>
                <a:ea typeface="Calibri" pitchFamily="34" charset="-122"/>
                <a:cs typeface="Calibri" pitchFamily="34" charset="-120"/>
              </a:rPr>
              <a:t>Fachri Akbar Djaelani</a:t>
            </a:r>
            <a:endParaRPr lang="en-US" sz="1400" dirty="0"/>
          </a:p>
        </p:txBody>
      </p:sp>
      <p:sp>
        <p:nvSpPr>
          <p:cNvPr id="16" name="Text 13"/>
          <p:cNvSpPr/>
          <p:nvPr/>
        </p:nvSpPr>
        <p:spPr>
          <a:xfrm>
            <a:off x="1554480" y="5010912"/>
            <a:ext cx="7315200" cy="274320"/>
          </a:xfrm>
          <a:prstGeom prst="rect">
            <a:avLst/>
          </a:prstGeom>
          <a:noFill/>
          <a:ln/>
        </p:spPr>
        <p:txBody>
          <a:bodyPr wrap="square" rtlCol="0" anchor="ctr"/>
          <a:lstStyle/>
          <a:p>
            <a:pPr indent="0" marL="0">
              <a:buNone/>
            </a:pPr>
            <a:r>
              <a:rPr lang="en-US" sz="1150" dirty="0">
                <a:solidFill>
                  <a:srgbClr val="9C8FC4"/>
                </a:solidFill>
                <a:latin typeface="Calibri" pitchFamily="34" charset="0"/>
                <a:ea typeface="Calibri" pitchFamily="34" charset="-122"/>
                <a:cs typeface="Calibri" pitchFamily="34" charset="-120"/>
              </a:rPr>
              <a:t>XII MIPA 1 · MA Persis Tarogong  ·  10 Oktober 2008</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D1B4E"/>
          </a:solidFill>
          <a:ln/>
        </p:spPr>
      </p:sp>
      <p:sp>
        <p:nvSpPr>
          <p:cNvPr id="3" name="Text 1"/>
          <p:cNvSpPr/>
          <p:nvPr/>
        </p:nvSpPr>
        <p:spPr>
          <a:xfrm>
            <a:off x="457200" y="457200"/>
            <a:ext cx="548640" cy="548640"/>
          </a:xfrm>
          <a:prstGeom prst="rect">
            <a:avLst/>
          </a:prstGeom>
          <a:noFill/>
          <a:ln/>
        </p:spPr>
        <p:txBody>
          <a:bodyPr wrap="square" rtlCol="0" anchor="ctr"/>
          <a:lstStyle/>
          <a:p>
            <a:pPr algn="ctr" indent="0" marL="0">
              <a:buNone/>
            </a:pPr>
            <a:r>
              <a:rPr lang="en-US" sz="2000" dirty="0">
                <a:solidFill>
                  <a:srgbClr val="9C8FC4"/>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rot="-900000">
            <a:off x="2926080" y="822960"/>
            <a:ext cx="548640" cy="548640"/>
          </a:xfrm>
          <a:prstGeom prst="rect">
            <a:avLst/>
          </a:prstGeom>
          <a:noFill/>
          <a:ln/>
        </p:spPr>
        <p:txBody>
          <a:bodyPr wrap="square" rtlCol="0" anchor="ctr"/>
          <a:lstStyle/>
          <a:p>
            <a:pPr algn="ctr" indent="0" marL="0">
              <a:buNone/>
            </a:pPr>
            <a:r>
              <a:rPr lang="en-US" sz="2000" dirty="0">
                <a:solidFill>
                  <a:srgbClr val="9C8FC4"/>
                </a:solidFill>
                <a:latin typeface="Calibri" pitchFamily="34" charset="0"/>
                <a:ea typeface="Calibri" pitchFamily="34" charset="-122"/>
                <a:cs typeface="Calibri" pitchFamily="34" charset="-120"/>
              </a:rPr>
              <a:t>♫</a:t>
            </a:r>
            <a:endParaRPr lang="en-US" sz="2000" dirty="0"/>
          </a:p>
        </p:txBody>
      </p:sp>
      <p:sp>
        <p:nvSpPr>
          <p:cNvPr id="5" name="Text 3"/>
          <p:cNvSpPr/>
          <p:nvPr/>
        </p:nvSpPr>
        <p:spPr>
          <a:xfrm rot="600000">
            <a:off x="548640" y="6035040"/>
            <a:ext cx="548640" cy="548640"/>
          </a:xfrm>
          <a:prstGeom prst="rect">
            <a:avLst/>
          </a:prstGeom>
          <a:noFill/>
          <a:ln/>
        </p:spPr>
        <p:txBody>
          <a:bodyPr wrap="square" rtlCol="0" anchor="ctr"/>
          <a:lstStyle/>
          <a:p>
            <a:pPr algn="ctr" indent="0" marL="0">
              <a:buNone/>
            </a:pPr>
            <a:r>
              <a:rPr lang="en-US" sz="2000" dirty="0">
                <a:solidFill>
                  <a:srgbClr val="9C8FC4"/>
                </a:solidFill>
                <a:latin typeface="Calibri" pitchFamily="34" charset="0"/>
                <a:ea typeface="Calibri" pitchFamily="34" charset="-122"/>
                <a:cs typeface="Calibri" pitchFamily="34" charset="-120"/>
              </a:rPr>
              <a:t>♩</a:t>
            </a:r>
            <a:endParaRPr lang="en-US" sz="2000" dirty="0"/>
          </a:p>
        </p:txBody>
      </p:sp>
      <p:sp>
        <p:nvSpPr>
          <p:cNvPr id="6" name="Shape 4"/>
          <p:cNvSpPr/>
          <p:nvPr/>
        </p:nvSpPr>
        <p:spPr>
          <a:xfrm>
            <a:off x="960120" y="1737360"/>
            <a:ext cx="1828800" cy="1828800"/>
          </a:xfrm>
          <a:prstGeom prst="ellipse">
            <a:avLst/>
          </a:prstGeom>
          <a:solidFill>
            <a:srgbClr val="20143A"/>
          </a:solidFill>
          <a:ln w="25400">
            <a:solidFill>
              <a:srgbClr val="E3B23C"/>
            </a:solidFill>
            <a:prstDash val="solid"/>
          </a:ln>
        </p:spPr>
      </p:sp>
      <p:sp>
        <p:nvSpPr>
          <p:cNvPr id="7" name="Text 5"/>
          <p:cNvSpPr/>
          <p:nvPr/>
        </p:nvSpPr>
        <p:spPr>
          <a:xfrm>
            <a:off x="960120" y="1737360"/>
            <a:ext cx="1828800" cy="1828800"/>
          </a:xfrm>
          <a:prstGeom prst="rect">
            <a:avLst/>
          </a:prstGeom>
          <a:noFill/>
          <a:ln/>
        </p:spPr>
        <p:txBody>
          <a:bodyPr wrap="square" rtlCol="0" anchor="ctr"/>
          <a:lstStyle/>
          <a:p>
            <a:pPr algn="ctr" indent="0" marL="0">
              <a:buNone/>
            </a:pPr>
            <a:r>
              <a:rPr lang="en-US" sz="3400" b="1" dirty="0">
                <a:solidFill>
                  <a:srgbClr val="E3B23C"/>
                </a:solidFill>
                <a:latin typeface="Cambria" pitchFamily="34" charset="0"/>
                <a:ea typeface="Cambria" pitchFamily="34" charset="-122"/>
                <a:cs typeface="Cambria" pitchFamily="34" charset="-120"/>
              </a:rPr>
              <a:t>FAD</a:t>
            </a:r>
            <a:endParaRPr lang="en-US" sz="3400" dirty="0"/>
          </a:p>
        </p:txBody>
      </p:sp>
      <p:sp>
        <p:nvSpPr>
          <p:cNvPr id="8" name="Text 6"/>
          <p:cNvSpPr/>
          <p:nvPr/>
        </p:nvSpPr>
        <p:spPr>
          <a:xfrm>
            <a:off x="365760" y="3749040"/>
            <a:ext cx="3017520" cy="82296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Fachri Akbar</a:t>
            </a:r>
            <a:endParaRPr lang="en-US" sz="1900" dirty="0"/>
          </a:p>
          <a:p>
            <a:pPr algn="ctr" indent="0" marL="0">
              <a:buNone/>
            </a:pPr>
            <a:r>
              <a:rPr lang="en-US" sz="1900" b="1" dirty="0">
                <a:solidFill>
                  <a:srgbClr val="FFFFFF"/>
                </a:solidFill>
                <a:latin typeface="Cambria" pitchFamily="34" charset="0"/>
                <a:ea typeface="Cambria" pitchFamily="34" charset="-122"/>
                <a:cs typeface="Cambria" pitchFamily="34" charset="-120"/>
              </a:rPr>
              <a:t>Djaelani</a:t>
            </a:r>
            <a:endParaRPr lang="en-US" sz="1900" dirty="0"/>
          </a:p>
        </p:txBody>
      </p:sp>
      <p:sp>
        <p:nvSpPr>
          <p:cNvPr id="9" name="Text 7"/>
          <p:cNvSpPr/>
          <p:nvPr/>
        </p:nvSpPr>
        <p:spPr>
          <a:xfrm>
            <a:off x="365760" y="4572000"/>
            <a:ext cx="3017520" cy="548640"/>
          </a:xfrm>
          <a:prstGeom prst="rect">
            <a:avLst/>
          </a:prstGeom>
          <a:noFill/>
          <a:ln/>
        </p:spPr>
        <p:txBody>
          <a:bodyPr wrap="square" rtlCol="0" anchor="ctr"/>
          <a:lstStyle/>
          <a:p>
            <a:pPr algn="ctr" indent="0" marL="0">
              <a:buNone/>
            </a:pPr>
            <a:r>
              <a:rPr lang="en-US" sz="1200" i="1" dirty="0">
                <a:solidFill>
                  <a:srgbClr val="C9BBEA"/>
                </a:solidFill>
                <a:latin typeface="Calibri" pitchFamily="34" charset="0"/>
                <a:ea typeface="Calibri" pitchFamily="34" charset="-122"/>
                <a:cs typeface="Calibri" pitchFamily="34" charset="-120"/>
              </a:rPr>
              <a:t>XII MIPA 1</a:t>
            </a:r>
            <a:endParaRPr lang="en-US" sz="1200" dirty="0"/>
          </a:p>
          <a:p>
            <a:pPr algn="ctr" indent="0" marL="0">
              <a:buNone/>
            </a:pPr>
            <a:r>
              <a:rPr lang="en-US" sz="1200" i="1" dirty="0">
                <a:solidFill>
                  <a:srgbClr val="C9BBEA"/>
                </a:solidFill>
                <a:latin typeface="Calibri" pitchFamily="34" charset="0"/>
                <a:ea typeface="Calibri" pitchFamily="34" charset="-122"/>
                <a:cs typeface="Calibri" pitchFamily="34" charset="-120"/>
              </a:rPr>
              <a:t>MA Persis Tarogong</a:t>
            </a:r>
            <a:endParaRPr lang="en-US" sz="1200" dirty="0"/>
          </a:p>
        </p:txBody>
      </p:sp>
      <p:sp>
        <p:nvSpPr>
          <p:cNvPr id="10" name="Text 8"/>
          <p:cNvSpPr/>
          <p:nvPr/>
        </p:nvSpPr>
        <p:spPr>
          <a:xfrm>
            <a:off x="4160520" y="502920"/>
            <a:ext cx="7315200" cy="320040"/>
          </a:xfrm>
          <a:prstGeom prst="rect">
            <a:avLst/>
          </a:prstGeom>
          <a:noFill/>
          <a:ln/>
        </p:spPr>
        <p:txBody>
          <a:bodyPr wrap="square" rtlCol="0" anchor="ctr"/>
          <a:lstStyle/>
          <a:p>
            <a:pPr indent="0" marL="0">
              <a:buNone/>
            </a:pPr>
            <a:r>
              <a:rPr lang="en-US" sz="1300" b="1" spc="200" kern="0" dirty="0">
                <a:solidFill>
                  <a:srgbClr val="E3B23C"/>
                </a:solidFill>
                <a:latin typeface="Calibri" pitchFamily="34" charset="0"/>
                <a:ea typeface="Calibri" pitchFamily="34" charset="-122"/>
                <a:cs typeface="Calibri" pitchFamily="34" charset="-120"/>
              </a:rPr>
              <a:t>PROFIL PENULIS</a:t>
            </a:r>
            <a:endParaRPr lang="en-US" sz="1300" dirty="0"/>
          </a:p>
        </p:txBody>
      </p:sp>
      <p:sp>
        <p:nvSpPr>
          <p:cNvPr id="11" name="Text 9"/>
          <p:cNvSpPr/>
          <p:nvPr/>
        </p:nvSpPr>
        <p:spPr>
          <a:xfrm>
            <a:off x="4160520" y="822960"/>
            <a:ext cx="7315200" cy="502920"/>
          </a:xfrm>
          <a:prstGeom prst="rect">
            <a:avLst/>
          </a:prstGeom>
          <a:noFill/>
          <a:ln/>
        </p:spPr>
        <p:txBody>
          <a:bodyPr wrap="square" rtlCol="0" anchor="ctr"/>
          <a:lstStyle/>
          <a:p>
            <a:pPr indent="0" marL="0">
              <a:buNone/>
            </a:pPr>
            <a:r>
              <a:rPr lang="en-US" sz="2600" b="1" dirty="0">
                <a:solidFill>
                  <a:srgbClr val="2D1B4E"/>
                </a:solidFill>
                <a:latin typeface="Cambria" pitchFamily="34" charset="0"/>
                <a:ea typeface="Cambria" pitchFamily="34" charset="-122"/>
                <a:cs typeface="Cambria" pitchFamily="34" charset="-120"/>
              </a:rPr>
              <a:t>Tentang Penyusun</a:t>
            </a:r>
            <a:endParaRPr lang="en-US" sz="2600" dirty="0"/>
          </a:p>
        </p:txBody>
      </p:sp>
      <p:sp>
        <p:nvSpPr>
          <p:cNvPr id="12" name="Shape 10"/>
          <p:cNvSpPr/>
          <p:nvPr/>
        </p:nvSpPr>
        <p:spPr>
          <a:xfrm>
            <a:off x="4160520" y="1508760"/>
            <a:ext cx="457200" cy="457200"/>
          </a:xfrm>
          <a:prstGeom prst="ellipse">
            <a:avLst/>
          </a:prstGeom>
          <a:solidFill>
            <a:srgbClr val="C9BBEA"/>
          </a:solidFill>
          <a:ln/>
        </p:spPr>
      </p:sp>
      <p:pic>
        <p:nvPicPr>
          <p:cNvPr id="13" name="Image 0" descr="/home/claude/kti-ppt/icon_school.png">    </p:cNvPr>
          <p:cNvPicPr>
            <a:picLocks noChangeAspect="1"/>
          </p:cNvPicPr>
          <p:nvPr/>
        </p:nvPicPr>
        <p:blipFill>
          <a:blip r:embed="rId1"/>
          <a:stretch>
            <a:fillRect/>
          </a:stretch>
        </p:blipFill>
        <p:spPr>
          <a:xfrm>
            <a:off x="4279392" y="1627632"/>
            <a:ext cx="219456" cy="219456"/>
          </a:xfrm>
          <a:prstGeom prst="rect">
            <a:avLst/>
          </a:prstGeom>
        </p:spPr>
      </p:pic>
      <p:sp>
        <p:nvSpPr>
          <p:cNvPr id="14" name="Text 11"/>
          <p:cNvSpPr/>
          <p:nvPr/>
        </p:nvSpPr>
        <p:spPr>
          <a:xfrm>
            <a:off x="4800600" y="1490472"/>
            <a:ext cx="6766560" cy="548640"/>
          </a:xfrm>
          <a:prstGeom prst="rect">
            <a:avLst/>
          </a:prstGeom>
          <a:noFill/>
          <a:ln/>
        </p:spPr>
        <p:txBody>
          <a:bodyPr wrap="square" rtlCol="0" anchor="ctr"/>
          <a:lstStyle/>
          <a:p>
            <a:pPr indent="0" marL="0">
              <a:buNone/>
            </a:pPr>
            <a:r>
              <a:rPr lang="en-US" sz="1250" dirty="0">
                <a:solidFill>
                  <a:srgbClr val="2D1B4E"/>
                </a:solidFill>
                <a:latin typeface="Calibri" pitchFamily="34" charset="0"/>
                <a:ea typeface="Calibri" pitchFamily="34" charset="-122"/>
                <a:cs typeface="Calibri" pitchFamily="34" charset="-120"/>
              </a:rPr>
              <a:t>Lahir di Garut, 10 Oktober 2008 — anak kedua dari dua bersaudara.</a:t>
            </a:r>
            <a:endParaRPr lang="en-US" sz="1250" dirty="0"/>
          </a:p>
        </p:txBody>
      </p:sp>
      <p:sp>
        <p:nvSpPr>
          <p:cNvPr id="15" name="Shape 12"/>
          <p:cNvSpPr/>
          <p:nvPr/>
        </p:nvSpPr>
        <p:spPr>
          <a:xfrm>
            <a:off x="4160520" y="2404872"/>
            <a:ext cx="457200" cy="457200"/>
          </a:xfrm>
          <a:prstGeom prst="ellipse">
            <a:avLst/>
          </a:prstGeom>
          <a:solidFill>
            <a:srgbClr val="C9BBEA"/>
          </a:solidFill>
          <a:ln/>
        </p:spPr>
      </p:sp>
      <p:pic>
        <p:nvPicPr>
          <p:cNvPr id="16" name="Image 1" descr="/home/claude/kti-ppt/icon_cap.png">    </p:cNvPr>
          <p:cNvPicPr>
            <a:picLocks noChangeAspect="1"/>
          </p:cNvPicPr>
          <p:nvPr/>
        </p:nvPicPr>
        <p:blipFill>
          <a:blip r:embed="rId2"/>
          <a:stretch>
            <a:fillRect/>
          </a:stretch>
        </p:blipFill>
        <p:spPr>
          <a:xfrm>
            <a:off x="4279392" y="2523744"/>
            <a:ext cx="219456" cy="219456"/>
          </a:xfrm>
          <a:prstGeom prst="rect">
            <a:avLst/>
          </a:prstGeom>
        </p:spPr>
      </p:pic>
      <p:sp>
        <p:nvSpPr>
          <p:cNvPr id="17" name="Text 13"/>
          <p:cNvSpPr/>
          <p:nvPr/>
        </p:nvSpPr>
        <p:spPr>
          <a:xfrm>
            <a:off x="4800600" y="2386584"/>
            <a:ext cx="6766560" cy="548640"/>
          </a:xfrm>
          <a:prstGeom prst="rect">
            <a:avLst/>
          </a:prstGeom>
          <a:noFill/>
          <a:ln/>
        </p:spPr>
        <p:txBody>
          <a:bodyPr wrap="square" rtlCol="0" anchor="ctr"/>
          <a:lstStyle/>
          <a:p>
            <a:pPr indent="0" marL="0">
              <a:buNone/>
            </a:pPr>
            <a:r>
              <a:rPr lang="en-US" sz="1250" dirty="0">
                <a:solidFill>
                  <a:srgbClr val="2D1B4E"/>
                </a:solidFill>
                <a:latin typeface="Calibri" pitchFamily="34" charset="0"/>
                <a:ea typeface="Calibri" pitchFamily="34" charset="-122"/>
                <a:cs typeface="Calibri" pitchFamily="34" charset="-120"/>
              </a:rPr>
              <a:t>Pendidikan: TK AR-Rahman (2012–2014), SDN Cangkuang 05 (2015–2021), MD Persis 160, kini MA Persis Tarogong sejak 2024.</a:t>
            </a:r>
            <a:endParaRPr lang="en-US" sz="1250" dirty="0"/>
          </a:p>
        </p:txBody>
      </p:sp>
      <p:sp>
        <p:nvSpPr>
          <p:cNvPr id="18" name="Shape 14"/>
          <p:cNvSpPr/>
          <p:nvPr/>
        </p:nvSpPr>
        <p:spPr>
          <a:xfrm>
            <a:off x="4160520" y="3300984"/>
            <a:ext cx="457200" cy="457200"/>
          </a:xfrm>
          <a:prstGeom prst="ellipse">
            <a:avLst/>
          </a:prstGeom>
          <a:solidFill>
            <a:srgbClr val="C9BBEA"/>
          </a:solidFill>
          <a:ln/>
        </p:spPr>
      </p:sp>
      <p:pic>
        <p:nvPicPr>
          <p:cNvPr id="19" name="Image 2" descr="/home/claude/kti-ppt/icon_users.png">    </p:cNvPr>
          <p:cNvPicPr>
            <a:picLocks noChangeAspect="1"/>
          </p:cNvPicPr>
          <p:nvPr/>
        </p:nvPicPr>
        <p:blipFill>
          <a:blip r:embed="rId3"/>
          <a:stretch>
            <a:fillRect/>
          </a:stretch>
        </p:blipFill>
        <p:spPr>
          <a:xfrm>
            <a:off x="4279392" y="3419856"/>
            <a:ext cx="219456" cy="219456"/>
          </a:xfrm>
          <a:prstGeom prst="rect">
            <a:avLst/>
          </a:prstGeom>
        </p:spPr>
      </p:pic>
      <p:sp>
        <p:nvSpPr>
          <p:cNvPr id="20" name="Text 15"/>
          <p:cNvSpPr/>
          <p:nvPr/>
        </p:nvSpPr>
        <p:spPr>
          <a:xfrm>
            <a:off x="4800600" y="3282696"/>
            <a:ext cx="6766560" cy="548640"/>
          </a:xfrm>
          <a:prstGeom prst="rect">
            <a:avLst/>
          </a:prstGeom>
          <a:noFill/>
          <a:ln/>
        </p:spPr>
        <p:txBody>
          <a:bodyPr wrap="square" rtlCol="0" anchor="ctr"/>
          <a:lstStyle/>
          <a:p>
            <a:pPr indent="0" marL="0">
              <a:buNone/>
            </a:pPr>
            <a:r>
              <a:rPr lang="en-US" sz="1250" dirty="0">
                <a:solidFill>
                  <a:srgbClr val="2D1B4E"/>
                </a:solidFill>
                <a:latin typeface="Calibri" pitchFamily="34" charset="0"/>
                <a:ea typeface="Calibri" pitchFamily="34" charset="-122"/>
                <a:cs typeface="Calibri" pitchFamily="34" charset="-120"/>
              </a:rPr>
              <a:t>Diamanahi sebagai Pradana Pramuka periode 2025–2026.</a:t>
            </a:r>
            <a:endParaRPr lang="en-US" sz="1250" dirty="0"/>
          </a:p>
        </p:txBody>
      </p:sp>
      <p:sp>
        <p:nvSpPr>
          <p:cNvPr id="21" name="Shape 16"/>
          <p:cNvSpPr/>
          <p:nvPr/>
        </p:nvSpPr>
        <p:spPr>
          <a:xfrm>
            <a:off x="4160520" y="4197096"/>
            <a:ext cx="457200" cy="457200"/>
          </a:xfrm>
          <a:prstGeom prst="ellipse">
            <a:avLst/>
          </a:prstGeom>
          <a:solidFill>
            <a:srgbClr val="C9BBEA"/>
          </a:solidFill>
          <a:ln/>
        </p:spPr>
      </p:sp>
      <p:pic>
        <p:nvPicPr>
          <p:cNvPr id="22" name="Image 3" descr="/home/claude/kti-ppt/icon_guitar.png">    </p:cNvPr>
          <p:cNvPicPr>
            <a:picLocks noChangeAspect="1"/>
          </p:cNvPicPr>
          <p:nvPr/>
        </p:nvPicPr>
        <p:blipFill>
          <a:blip r:embed="rId4"/>
          <a:stretch>
            <a:fillRect/>
          </a:stretch>
        </p:blipFill>
        <p:spPr>
          <a:xfrm>
            <a:off x="4279392" y="4315968"/>
            <a:ext cx="219456" cy="219456"/>
          </a:xfrm>
          <a:prstGeom prst="rect">
            <a:avLst/>
          </a:prstGeom>
        </p:spPr>
      </p:pic>
      <p:sp>
        <p:nvSpPr>
          <p:cNvPr id="23" name="Text 17"/>
          <p:cNvSpPr/>
          <p:nvPr/>
        </p:nvSpPr>
        <p:spPr>
          <a:xfrm>
            <a:off x="4800600" y="4178808"/>
            <a:ext cx="6766560" cy="548640"/>
          </a:xfrm>
          <a:prstGeom prst="rect">
            <a:avLst/>
          </a:prstGeom>
          <a:noFill/>
          <a:ln/>
        </p:spPr>
        <p:txBody>
          <a:bodyPr wrap="square" rtlCol="0" anchor="ctr"/>
          <a:lstStyle/>
          <a:p>
            <a:pPr indent="0" marL="0">
              <a:buNone/>
            </a:pPr>
            <a:r>
              <a:rPr lang="en-US" sz="1250" dirty="0">
                <a:solidFill>
                  <a:srgbClr val="2D1B4E"/>
                </a:solidFill>
                <a:latin typeface="Calibri" pitchFamily="34" charset="0"/>
                <a:ea typeface="Calibri" pitchFamily="34" charset="-122"/>
                <a:cs typeface="Calibri" pitchFamily="34" charset="-120"/>
              </a:rPr>
              <a:t>Memiliki minat besar pada musik dan mampu bermain gitar.</a:t>
            </a:r>
            <a:endParaRPr lang="en-US" sz="1250" dirty="0"/>
          </a:p>
        </p:txBody>
      </p:sp>
      <p:sp>
        <p:nvSpPr>
          <p:cNvPr id="24" name="Shape 18"/>
          <p:cNvSpPr/>
          <p:nvPr/>
        </p:nvSpPr>
        <p:spPr>
          <a:xfrm>
            <a:off x="4160520" y="5093208"/>
            <a:ext cx="457200" cy="457200"/>
          </a:xfrm>
          <a:prstGeom prst="ellipse">
            <a:avLst/>
          </a:prstGeom>
          <a:solidFill>
            <a:srgbClr val="C9BBEA"/>
          </a:solidFill>
          <a:ln/>
        </p:spPr>
      </p:sp>
      <p:pic>
        <p:nvPicPr>
          <p:cNvPr id="25" name="Image 4" descr="/home/claude/kti-ppt/icon_target.png">    </p:cNvPr>
          <p:cNvPicPr>
            <a:picLocks noChangeAspect="1"/>
          </p:cNvPicPr>
          <p:nvPr/>
        </p:nvPicPr>
        <p:blipFill>
          <a:blip r:embed="rId5"/>
          <a:stretch>
            <a:fillRect/>
          </a:stretch>
        </p:blipFill>
        <p:spPr>
          <a:xfrm>
            <a:off x="4279392" y="5212080"/>
            <a:ext cx="219456" cy="219456"/>
          </a:xfrm>
          <a:prstGeom prst="rect">
            <a:avLst/>
          </a:prstGeom>
        </p:spPr>
      </p:pic>
      <p:sp>
        <p:nvSpPr>
          <p:cNvPr id="26" name="Text 19"/>
          <p:cNvSpPr/>
          <p:nvPr/>
        </p:nvSpPr>
        <p:spPr>
          <a:xfrm>
            <a:off x="4800600" y="5074920"/>
            <a:ext cx="6766560" cy="548640"/>
          </a:xfrm>
          <a:prstGeom prst="rect">
            <a:avLst/>
          </a:prstGeom>
          <a:noFill/>
          <a:ln/>
        </p:spPr>
        <p:txBody>
          <a:bodyPr wrap="square" rtlCol="0" anchor="ctr"/>
          <a:lstStyle/>
          <a:p>
            <a:pPr indent="0" marL="0">
              <a:buNone/>
            </a:pPr>
            <a:r>
              <a:rPr lang="en-US" sz="1250" dirty="0">
                <a:solidFill>
                  <a:srgbClr val="2D1B4E"/>
                </a:solidFill>
                <a:latin typeface="Calibri" pitchFamily="34" charset="0"/>
                <a:ea typeface="Calibri" pitchFamily="34" charset="-122"/>
                <a:cs typeface="Calibri" pitchFamily="34" charset="-120"/>
              </a:rPr>
              <a:t>Menyukai dunia permesinan; bercita-cita menjadi pilot.</a:t>
            </a:r>
            <a:endParaRPr lang="en-US" sz="1250" dirty="0"/>
          </a:p>
        </p:txBody>
      </p:sp>
      <p:sp>
        <p:nvSpPr>
          <p:cNvPr id="27" name="Text 20"/>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28" name="Text 2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1B4E"/>
        </a:solidFill>
      </p:bgPr>
    </p:bg>
    <p:spTree>
      <p:nvGrpSpPr>
        <p:cNvPr id="1" name=""/>
        <p:cNvGrpSpPr/>
        <p:nvPr/>
      </p:nvGrpSpPr>
      <p:grpSpPr>
        <a:xfrm>
          <a:off x="0" y="0"/>
          <a:ext cx="0" cy="0"/>
          <a:chOff x="0" y="0"/>
          <a:chExt cx="0" cy="0"/>
        </a:xfrm>
      </p:grpSpPr>
      <p:sp>
        <p:nvSpPr>
          <p:cNvPr id="2" name="Text 0"/>
          <p:cNvSpPr/>
          <p:nvPr/>
        </p:nvSpPr>
        <p:spPr>
          <a:xfrm rot="600000">
            <a:off x="11247120" y="548640"/>
            <a:ext cx="548640" cy="548640"/>
          </a:xfrm>
          <a:prstGeom prst="rect">
            <a:avLst/>
          </a:prstGeom>
          <a:noFill/>
          <a:ln/>
        </p:spPr>
        <p:txBody>
          <a:bodyPr wrap="square" rtlCol="0" anchor="ctr"/>
          <a:lstStyle/>
          <a:p>
            <a:pPr algn="ctr" indent="0" marL="0">
              <a:buNone/>
            </a:pPr>
            <a:r>
              <a:rPr lang="en-US" sz="2400" dirty="0">
                <a:solidFill>
                  <a:srgbClr val="9C8FC4"/>
                </a:solidFill>
                <a:latin typeface="Calibri" pitchFamily="34" charset="0"/>
                <a:ea typeface="Calibri" pitchFamily="34" charset="-122"/>
                <a:cs typeface="Calibri" pitchFamily="34" charset="-120"/>
              </a:rPr>
              <a:t>♫</a:t>
            </a:r>
            <a:endParaRPr lang="en-US" sz="2400" dirty="0"/>
          </a:p>
        </p:txBody>
      </p:sp>
      <p:sp>
        <p:nvSpPr>
          <p:cNvPr id="3" name="Text 1"/>
          <p:cNvSpPr/>
          <p:nvPr/>
        </p:nvSpPr>
        <p:spPr>
          <a:xfrm rot="-600000">
            <a:off x="548640" y="5943600"/>
            <a:ext cx="548640" cy="548640"/>
          </a:xfrm>
          <a:prstGeom prst="rect">
            <a:avLst/>
          </a:prstGeom>
          <a:noFill/>
          <a:ln/>
        </p:spPr>
        <p:txBody>
          <a:bodyPr wrap="square" rtlCol="0" anchor="ctr"/>
          <a:lstStyle/>
          <a:p>
            <a:pPr algn="ctr" indent="0" marL="0">
              <a:buNone/>
            </a:pPr>
            <a:r>
              <a:rPr lang="en-US" sz="2400" dirty="0">
                <a:solidFill>
                  <a:srgbClr val="9C8FC4"/>
                </a:solidFill>
                <a:latin typeface="Calibri" pitchFamily="34" charset="0"/>
                <a:ea typeface="Calibri" pitchFamily="34" charset="-122"/>
                <a:cs typeface="Calibri" pitchFamily="34" charset="-120"/>
              </a:rPr>
              <a:t>♪</a:t>
            </a:r>
            <a:endParaRPr lang="en-US" sz="2400" dirty="0"/>
          </a:p>
        </p:txBody>
      </p:sp>
      <p:sp>
        <p:nvSpPr>
          <p:cNvPr id="4" name="Text 2"/>
          <p:cNvSpPr/>
          <p:nvPr/>
        </p:nvSpPr>
        <p:spPr>
          <a:xfrm>
            <a:off x="822960" y="594360"/>
            <a:ext cx="5486400" cy="365760"/>
          </a:xfrm>
          <a:prstGeom prst="rect">
            <a:avLst/>
          </a:prstGeom>
          <a:noFill/>
          <a:ln/>
        </p:spPr>
        <p:txBody>
          <a:bodyPr wrap="square" rtlCol="0" anchor="ctr"/>
          <a:lstStyle/>
          <a:p>
            <a:pPr indent="0" marL="0">
              <a:buNone/>
            </a:pPr>
            <a:r>
              <a:rPr lang="en-US" sz="1300" b="1" spc="300" kern="0" dirty="0">
                <a:solidFill>
                  <a:srgbClr val="E3B23C"/>
                </a:solidFill>
                <a:latin typeface="Calibri" pitchFamily="34" charset="0"/>
                <a:ea typeface="Calibri" pitchFamily="34" charset="-122"/>
                <a:cs typeface="Calibri" pitchFamily="34" charset="-120"/>
              </a:rPr>
              <a:t>DAFTAR ISI</a:t>
            </a:r>
            <a:endParaRPr lang="en-US" sz="1300" dirty="0"/>
          </a:p>
        </p:txBody>
      </p:sp>
      <p:sp>
        <p:nvSpPr>
          <p:cNvPr id="5" name="Text 3"/>
          <p:cNvSpPr/>
          <p:nvPr/>
        </p:nvSpPr>
        <p:spPr>
          <a:xfrm>
            <a:off x="822960" y="932688"/>
            <a:ext cx="82296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Struktur Pembahasan</a:t>
            </a:r>
            <a:endParaRPr lang="en-US" sz="2800" dirty="0"/>
          </a:p>
        </p:txBody>
      </p:sp>
      <p:sp>
        <p:nvSpPr>
          <p:cNvPr id="6" name="Shape 4"/>
          <p:cNvSpPr/>
          <p:nvPr/>
        </p:nvSpPr>
        <p:spPr>
          <a:xfrm>
            <a:off x="822960" y="1874520"/>
            <a:ext cx="10515600" cy="960120"/>
          </a:xfrm>
          <a:prstGeom prst="roundRect">
            <a:avLst>
              <a:gd name="adj" fmla="val 7619"/>
            </a:avLst>
          </a:prstGeom>
          <a:solidFill>
            <a:srgbClr val="20143A"/>
          </a:solidFill>
          <a:ln/>
        </p:spPr>
      </p:sp>
      <p:sp>
        <p:nvSpPr>
          <p:cNvPr id="7" name="Text 5"/>
          <p:cNvSpPr/>
          <p:nvPr/>
        </p:nvSpPr>
        <p:spPr>
          <a:xfrm>
            <a:off x="1051560" y="1874520"/>
            <a:ext cx="822960" cy="960120"/>
          </a:xfrm>
          <a:prstGeom prst="rect">
            <a:avLst/>
          </a:prstGeom>
          <a:noFill/>
          <a:ln/>
        </p:spPr>
        <p:txBody>
          <a:bodyPr wrap="square"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I</a:t>
            </a:r>
            <a:endParaRPr lang="en-US" sz="3000" dirty="0"/>
          </a:p>
        </p:txBody>
      </p:sp>
      <p:sp>
        <p:nvSpPr>
          <p:cNvPr id="8" name="Shape 6"/>
          <p:cNvSpPr/>
          <p:nvPr/>
        </p:nvSpPr>
        <p:spPr>
          <a:xfrm>
            <a:off x="1965960" y="2075688"/>
            <a:ext cx="548640" cy="548640"/>
          </a:xfrm>
          <a:prstGeom prst="ellipse">
            <a:avLst/>
          </a:prstGeom>
          <a:solidFill>
            <a:srgbClr val="9C8FC4"/>
          </a:solidFill>
          <a:ln/>
        </p:spPr>
      </p:sp>
      <p:pic>
        <p:nvPicPr>
          <p:cNvPr id="9" name="Image 0" descr="/home/claude/kti-ppt/icon_question.png">    </p:cNvPr>
          <p:cNvPicPr>
            <a:picLocks noChangeAspect="1"/>
          </p:cNvPicPr>
          <p:nvPr/>
        </p:nvPicPr>
        <p:blipFill>
          <a:blip r:embed="rId1"/>
          <a:stretch>
            <a:fillRect/>
          </a:stretch>
        </p:blipFill>
        <p:spPr>
          <a:xfrm>
            <a:off x="2108606" y="2218334"/>
            <a:ext cx="263347" cy="263347"/>
          </a:xfrm>
          <a:prstGeom prst="rect">
            <a:avLst/>
          </a:prstGeom>
        </p:spPr>
      </p:pic>
      <p:sp>
        <p:nvSpPr>
          <p:cNvPr id="10" name="Text 7"/>
          <p:cNvSpPr/>
          <p:nvPr/>
        </p:nvSpPr>
        <p:spPr>
          <a:xfrm>
            <a:off x="2697480" y="1993392"/>
            <a:ext cx="548640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Pendahuluan</a:t>
            </a:r>
            <a:endParaRPr lang="en-US" sz="1700" dirty="0"/>
          </a:p>
        </p:txBody>
      </p:sp>
      <p:sp>
        <p:nvSpPr>
          <p:cNvPr id="11" name="Text 8"/>
          <p:cNvSpPr/>
          <p:nvPr/>
        </p:nvSpPr>
        <p:spPr>
          <a:xfrm>
            <a:off x="2697480" y="2359152"/>
            <a:ext cx="7498080" cy="365760"/>
          </a:xfrm>
          <a:prstGeom prst="rect">
            <a:avLst/>
          </a:prstGeom>
          <a:noFill/>
          <a:ln/>
        </p:spPr>
        <p:txBody>
          <a:bodyPr wrap="square" rtlCol="0" anchor="ctr"/>
          <a:lstStyle/>
          <a:p>
            <a:pPr indent="0" marL="0">
              <a:buNone/>
            </a:pPr>
            <a:r>
              <a:rPr lang="en-US" sz="1200" i="1" dirty="0">
                <a:solidFill>
                  <a:srgbClr val="C9BBEA"/>
                </a:solidFill>
                <a:latin typeface="Calibri" pitchFamily="34" charset="0"/>
                <a:ea typeface="Calibri" pitchFamily="34" charset="-122"/>
                <a:cs typeface="Calibri" pitchFamily="34" charset="-120"/>
              </a:rPr>
              <a:t>Latar belakang, rumusan masalah &amp; tujuan</a:t>
            </a:r>
            <a:endParaRPr lang="en-US" sz="1200" dirty="0"/>
          </a:p>
        </p:txBody>
      </p:sp>
      <p:sp>
        <p:nvSpPr>
          <p:cNvPr id="12" name="Shape 9"/>
          <p:cNvSpPr/>
          <p:nvPr/>
        </p:nvSpPr>
        <p:spPr>
          <a:xfrm>
            <a:off x="822960" y="3017520"/>
            <a:ext cx="10515600" cy="960120"/>
          </a:xfrm>
          <a:prstGeom prst="roundRect">
            <a:avLst>
              <a:gd name="adj" fmla="val 7619"/>
            </a:avLst>
          </a:prstGeom>
          <a:solidFill>
            <a:srgbClr val="20143A"/>
          </a:solidFill>
          <a:ln/>
        </p:spPr>
      </p:sp>
      <p:sp>
        <p:nvSpPr>
          <p:cNvPr id="13" name="Text 10"/>
          <p:cNvSpPr/>
          <p:nvPr/>
        </p:nvSpPr>
        <p:spPr>
          <a:xfrm>
            <a:off x="1051560" y="3017520"/>
            <a:ext cx="822960" cy="960120"/>
          </a:xfrm>
          <a:prstGeom prst="rect">
            <a:avLst/>
          </a:prstGeom>
          <a:noFill/>
          <a:ln/>
        </p:spPr>
        <p:txBody>
          <a:bodyPr wrap="square"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II</a:t>
            </a:r>
            <a:endParaRPr lang="en-US" sz="3000" dirty="0"/>
          </a:p>
        </p:txBody>
      </p:sp>
      <p:sp>
        <p:nvSpPr>
          <p:cNvPr id="14" name="Shape 11"/>
          <p:cNvSpPr/>
          <p:nvPr/>
        </p:nvSpPr>
        <p:spPr>
          <a:xfrm>
            <a:off x="1965960" y="3218688"/>
            <a:ext cx="548640" cy="548640"/>
          </a:xfrm>
          <a:prstGeom prst="ellipse">
            <a:avLst/>
          </a:prstGeom>
          <a:solidFill>
            <a:srgbClr val="9C8FC4"/>
          </a:solidFill>
          <a:ln/>
        </p:spPr>
      </p:sp>
      <p:pic>
        <p:nvPicPr>
          <p:cNvPr id="15" name="Image 1" descr="/home/claude/kti-ppt/icon_book.png">    </p:cNvPr>
          <p:cNvPicPr>
            <a:picLocks noChangeAspect="1"/>
          </p:cNvPicPr>
          <p:nvPr/>
        </p:nvPicPr>
        <p:blipFill>
          <a:blip r:embed="rId2"/>
          <a:stretch>
            <a:fillRect/>
          </a:stretch>
        </p:blipFill>
        <p:spPr>
          <a:xfrm>
            <a:off x="2108606" y="3361334"/>
            <a:ext cx="263347" cy="263347"/>
          </a:xfrm>
          <a:prstGeom prst="rect">
            <a:avLst/>
          </a:prstGeom>
        </p:spPr>
      </p:pic>
      <p:sp>
        <p:nvSpPr>
          <p:cNvPr id="16" name="Text 12"/>
          <p:cNvSpPr/>
          <p:nvPr/>
        </p:nvSpPr>
        <p:spPr>
          <a:xfrm>
            <a:off x="2697480" y="3136392"/>
            <a:ext cx="548640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Tinjauan Pustaka</a:t>
            </a:r>
            <a:endParaRPr lang="en-US" sz="1700" dirty="0"/>
          </a:p>
        </p:txBody>
      </p:sp>
      <p:sp>
        <p:nvSpPr>
          <p:cNvPr id="17" name="Text 13"/>
          <p:cNvSpPr/>
          <p:nvPr/>
        </p:nvSpPr>
        <p:spPr>
          <a:xfrm>
            <a:off x="2697480" y="3502152"/>
            <a:ext cx="7498080" cy="365760"/>
          </a:xfrm>
          <a:prstGeom prst="rect">
            <a:avLst/>
          </a:prstGeom>
          <a:noFill/>
          <a:ln/>
        </p:spPr>
        <p:txBody>
          <a:bodyPr wrap="square" rtlCol="0" anchor="ctr"/>
          <a:lstStyle/>
          <a:p>
            <a:pPr indent="0" marL="0">
              <a:buNone/>
            </a:pPr>
            <a:r>
              <a:rPr lang="en-US" sz="1200" i="1" dirty="0">
                <a:solidFill>
                  <a:srgbClr val="C9BBEA"/>
                </a:solidFill>
                <a:latin typeface="Calibri" pitchFamily="34" charset="0"/>
                <a:ea typeface="Calibri" pitchFamily="34" charset="-122"/>
                <a:cs typeface="Calibri" pitchFamily="34" charset="-120"/>
              </a:rPr>
              <a:t>Landasan teori &amp; penelitian terkait</a:t>
            </a:r>
            <a:endParaRPr lang="en-US" sz="1200" dirty="0"/>
          </a:p>
        </p:txBody>
      </p:sp>
      <p:sp>
        <p:nvSpPr>
          <p:cNvPr id="18" name="Shape 14"/>
          <p:cNvSpPr/>
          <p:nvPr/>
        </p:nvSpPr>
        <p:spPr>
          <a:xfrm>
            <a:off x="822960" y="4160520"/>
            <a:ext cx="10515600" cy="960120"/>
          </a:xfrm>
          <a:prstGeom prst="roundRect">
            <a:avLst>
              <a:gd name="adj" fmla="val 7619"/>
            </a:avLst>
          </a:prstGeom>
          <a:solidFill>
            <a:srgbClr val="20143A"/>
          </a:solidFill>
          <a:ln/>
        </p:spPr>
      </p:sp>
      <p:sp>
        <p:nvSpPr>
          <p:cNvPr id="19" name="Text 15"/>
          <p:cNvSpPr/>
          <p:nvPr/>
        </p:nvSpPr>
        <p:spPr>
          <a:xfrm>
            <a:off x="1051560" y="4160520"/>
            <a:ext cx="822960" cy="960120"/>
          </a:xfrm>
          <a:prstGeom prst="rect">
            <a:avLst/>
          </a:prstGeom>
          <a:noFill/>
          <a:ln/>
        </p:spPr>
        <p:txBody>
          <a:bodyPr wrap="square"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III</a:t>
            </a:r>
            <a:endParaRPr lang="en-US" sz="3000" dirty="0"/>
          </a:p>
        </p:txBody>
      </p:sp>
      <p:sp>
        <p:nvSpPr>
          <p:cNvPr id="20" name="Shape 16"/>
          <p:cNvSpPr/>
          <p:nvPr/>
        </p:nvSpPr>
        <p:spPr>
          <a:xfrm>
            <a:off x="1965960" y="4361688"/>
            <a:ext cx="548640" cy="548640"/>
          </a:xfrm>
          <a:prstGeom prst="ellipse">
            <a:avLst/>
          </a:prstGeom>
          <a:solidFill>
            <a:srgbClr val="9C8FC4"/>
          </a:solidFill>
          <a:ln/>
        </p:spPr>
      </p:sp>
      <p:pic>
        <p:nvPicPr>
          <p:cNvPr id="21" name="Image 2" descr="/home/claude/kti-ppt/icon_chart.png">    </p:cNvPr>
          <p:cNvPicPr>
            <a:picLocks noChangeAspect="1"/>
          </p:cNvPicPr>
          <p:nvPr/>
        </p:nvPicPr>
        <p:blipFill>
          <a:blip r:embed="rId3"/>
          <a:stretch>
            <a:fillRect/>
          </a:stretch>
        </p:blipFill>
        <p:spPr>
          <a:xfrm>
            <a:off x="2108606" y="4504334"/>
            <a:ext cx="263347" cy="263347"/>
          </a:xfrm>
          <a:prstGeom prst="rect">
            <a:avLst/>
          </a:prstGeom>
        </p:spPr>
      </p:pic>
      <p:sp>
        <p:nvSpPr>
          <p:cNvPr id="22" name="Text 17"/>
          <p:cNvSpPr/>
          <p:nvPr/>
        </p:nvSpPr>
        <p:spPr>
          <a:xfrm>
            <a:off x="2697480" y="4279392"/>
            <a:ext cx="548640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Pembahasan</a:t>
            </a:r>
            <a:endParaRPr lang="en-US" sz="1700" dirty="0"/>
          </a:p>
        </p:txBody>
      </p:sp>
      <p:sp>
        <p:nvSpPr>
          <p:cNvPr id="23" name="Text 18"/>
          <p:cNvSpPr/>
          <p:nvPr/>
        </p:nvSpPr>
        <p:spPr>
          <a:xfrm>
            <a:off x="2697480" y="4645152"/>
            <a:ext cx="7498080" cy="365760"/>
          </a:xfrm>
          <a:prstGeom prst="rect">
            <a:avLst/>
          </a:prstGeom>
          <a:noFill/>
          <a:ln/>
        </p:spPr>
        <p:txBody>
          <a:bodyPr wrap="square" rtlCol="0" anchor="ctr"/>
          <a:lstStyle/>
          <a:p>
            <a:pPr indent="0" marL="0">
              <a:buNone/>
            </a:pPr>
            <a:r>
              <a:rPr lang="en-US" sz="1200" i="1" dirty="0">
                <a:solidFill>
                  <a:srgbClr val="C9BBEA"/>
                </a:solidFill>
                <a:latin typeface="Calibri" pitchFamily="34" charset="0"/>
                <a:ea typeface="Calibri" pitchFamily="34" charset="-122"/>
                <a:cs typeface="Calibri" pitchFamily="34" charset="-120"/>
              </a:rPr>
              <a:t>Metode, hasil, analisis, dan diskusi</a:t>
            </a:r>
            <a:endParaRPr lang="en-US" sz="1200" dirty="0"/>
          </a:p>
        </p:txBody>
      </p:sp>
      <p:sp>
        <p:nvSpPr>
          <p:cNvPr id="24" name="Shape 19"/>
          <p:cNvSpPr/>
          <p:nvPr/>
        </p:nvSpPr>
        <p:spPr>
          <a:xfrm>
            <a:off x="822960" y="5303520"/>
            <a:ext cx="10515600" cy="960120"/>
          </a:xfrm>
          <a:prstGeom prst="roundRect">
            <a:avLst>
              <a:gd name="adj" fmla="val 7619"/>
            </a:avLst>
          </a:prstGeom>
          <a:solidFill>
            <a:srgbClr val="20143A"/>
          </a:solidFill>
          <a:ln/>
        </p:spPr>
      </p:sp>
      <p:sp>
        <p:nvSpPr>
          <p:cNvPr id="25" name="Text 20"/>
          <p:cNvSpPr/>
          <p:nvPr/>
        </p:nvSpPr>
        <p:spPr>
          <a:xfrm>
            <a:off x="1051560" y="5303520"/>
            <a:ext cx="822960" cy="960120"/>
          </a:xfrm>
          <a:prstGeom prst="rect">
            <a:avLst/>
          </a:prstGeom>
          <a:noFill/>
          <a:ln/>
        </p:spPr>
        <p:txBody>
          <a:bodyPr wrap="square"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IV</a:t>
            </a:r>
            <a:endParaRPr lang="en-US" sz="3000" dirty="0"/>
          </a:p>
        </p:txBody>
      </p:sp>
      <p:sp>
        <p:nvSpPr>
          <p:cNvPr id="26" name="Shape 21"/>
          <p:cNvSpPr/>
          <p:nvPr/>
        </p:nvSpPr>
        <p:spPr>
          <a:xfrm>
            <a:off x="1965960" y="5504688"/>
            <a:ext cx="548640" cy="548640"/>
          </a:xfrm>
          <a:prstGeom prst="ellipse">
            <a:avLst/>
          </a:prstGeom>
          <a:solidFill>
            <a:srgbClr val="9C8FC4"/>
          </a:solidFill>
          <a:ln/>
        </p:spPr>
      </p:sp>
      <p:pic>
        <p:nvPicPr>
          <p:cNvPr id="27" name="Image 3" descr="/home/claude/kti-ppt/icon_check.png">    </p:cNvPr>
          <p:cNvPicPr>
            <a:picLocks noChangeAspect="1"/>
          </p:cNvPicPr>
          <p:nvPr/>
        </p:nvPicPr>
        <p:blipFill>
          <a:blip r:embed="rId4"/>
          <a:stretch>
            <a:fillRect/>
          </a:stretch>
        </p:blipFill>
        <p:spPr>
          <a:xfrm>
            <a:off x="2108606" y="5647334"/>
            <a:ext cx="263347" cy="263347"/>
          </a:xfrm>
          <a:prstGeom prst="rect">
            <a:avLst/>
          </a:prstGeom>
        </p:spPr>
      </p:pic>
      <p:sp>
        <p:nvSpPr>
          <p:cNvPr id="28" name="Text 22"/>
          <p:cNvSpPr/>
          <p:nvPr/>
        </p:nvSpPr>
        <p:spPr>
          <a:xfrm>
            <a:off x="2697480" y="5422392"/>
            <a:ext cx="548640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Penutup</a:t>
            </a:r>
            <a:endParaRPr lang="en-US" sz="1700" dirty="0"/>
          </a:p>
        </p:txBody>
      </p:sp>
      <p:sp>
        <p:nvSpPr>
          <p:cNvPr id="29" name="Text 23"/>
          <p:cNvSpPr/>
          <p:nvPr/>
        </p:nvSpPr>
        <p:spPr>
          <a:xfrm>
            <a:off x="2697480" y="5788152"/>
            <a:ext cx="7498080" cy="365760"/>
          </a:xfrm>
          <a:prstGeom prst="rect">
            <a:avLst/>
          </a:prstGeom>
          <a:noFill/>
          <a:ln/>
        </p:spPr>
        <p:txBody>
          <a:bodyPr wrap="square" rtlCol="0" anchor="ctr"/>
          <a:lstStyle/>
          <a:p>
            <a:pPr indent="0" marL="0">
              <a:buNone/>
            </a:pPr>
            <a:r>
              <a:rPr lang="en-US" sz="1200" i="1" dirty="0">
                <a:solidFill>
                  <a:srgbClr val="C9BBEA"/>
                </a:solidFill>
                <a:latin typeface="Calibri" pitchFamily="34" charset="0"/>
                <a:ea typeface="Calibri" pitchFamily="34" charset="-122"/>
                <a:cs typeface="Calibri" pitchFamily="34" charset="-120"/>
              </a:rPr>
              <a:t>Kesimpulan dan saran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FC"/>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 · PENDAHULUAN</a:t>
            </a:r>
            <a:endParaRPr lang="en-US" sz="1250" dirty="0"/>
          </a:p>
        </p:txBody>
      </p:sp>
      <p:sp>
        <p:nvSpPr>
          <p:cNvPr id="3" name="Text 1"/>
          <p:cNvSpPr/>
          <p:nvPr/>
        </p:nvSpPr>
        <p:spPr>
          <a:xfrm>
            <a:off x="640080" y="786384"/>
            <a:ext cx="7315200" cy="502920"/>
          </a:xfrm>
          <a:prstGeom prst="rect">
            <a:avLst/>
          </a:prstGeom>
          <a:noFill/>
          <a:ln/>
        </p:spPr>
        <p:txBody>
          <a:bodyPr wrap="square" rtlCol="0" anchor="ctr"/>
          <a:lstStyle/>
          <a:p>
            <a:pPr indent="0" marL="0">
              <a:buNone/>
            </a:pPr>
            <a:r>
              <a:rPr lang="en-US" sz="2700" b="1" dirty="0">
                <a:solidFill>
                  <a:srgbClr val="2D1B4E"/>
                </a:solidFill>
                <a:latin typeface="Cambria" pitchFamily="34" charset="0"/>
                <a:ea typeface="Cambria" pitchFamily="34" charset="-122"/>
                <a:cs typeface="Cambria" pitchFamily="34" charset="-120"/>
              </a:rPr>
              <a:t>Latar Belakang</a:t>
            </a:r>
            <a:endParaRPr lang="en-US" sz="2700" dirty="0"/>
          </a:p>
        </p:txBody>
      </p:sp>
      <p:sp>
        <p:nvSpPr>
          <p:cNvPr id="4" name="Shape 2"/>
          <p:cNvSpPr/>
          <p:nvPr/>
        </p:nvSpPr>
        <p:spPr>
          <a:xfrm>
            <a:off x="640080" y="1508760"/>
            <a:ext cx="6492240" cy="3246120"/>
          </a:xfrm>
          <a:prstGeom prst="roundRect">
            <a:avLst>
              <a:gd name="adj" fmla="val 2254"/>
            </a:avLst>
          </a:prstGeom>
          <a:solidFill>
            <a:srgbClr val="FFFFFF"/>
          </a:solidFill>
          <a:ln w="12700">
            <a:solidFill>
              <a:srgbClr val="E4DCF2"/>
            </a:solidFill>
            <a:prstDash val="solid"/>
          </a:ln>
        </p:spPr>
      </p:sp>
      <p:sp>
        <p:nvSpPr>
          <p:cNvPr id="5" name="Text 3"/>
          <p:cNvSpPr/>
          <p:nvPr/>
        </p:nvSpPr>
        <p:spPr>
          <a:xfrm>
            <a:off x="960120" y="1783080"/>
            <a:ext cx="5852160" cy="2743200"/>
          </a:xfrm>
          <a:prstGeom prst="rect">
            <a:avLst/>
          </a:prstGeom>
          <a:noFill/>
          <a:ln/>
        </p:spPr>
        <p:txBody>
          <a:bodyPr wrap="square" rtlCol="0" anchor="t"/>
          <a:lstStyle/>
          <a:p>
            <a:pPr indent="0" marL="0">
              <a:lnSpc>
                <a:spcPct val="125000"/>
              </a:lnSpc>
              <a:buNone/>
            </a:pPr>
            <a:r>
              <a:rPr lang="en-US" sz="1400" dirty="0">
                <a:solidFill>
                  <a:srgbClr val="2D1B4E"/>
                </a:solidFill>
                <a:latin typeface="Calibri" pitchFamily="34" charset="0"/>
                <a:ea typeface="Calibri" pitchFamily="34" charset="-122"/>
                <a:cs typeface="Calibri" pitchFamily="34" charset="-120"/>
              </a:rPr>
              <a:t>Belajar membutuhkan suasana yang nyaman agar siswa dapat berkonsentrasi dan memahami materi dengan baik. </a:t>
            </a:r>
            <a:pPr indent="0" marL="0">
              <a:lnSpc>
                <a:spcPct val="125000"/>
              </a:lnSpc>
              <a:buNone/>
            </a:pPr>
            <a:r>
              <a:rPr lang="en-US" sz="1400" dirty="0">
                <a:solidFill>
                  <a:srgbClr val="2D1B4E"/>
                </a:solidFill>
                <a:latin typeface="Calibri" pitchFamily="34" charset="0"/>
                <a:ea typeface="Calibri" pitchFamily="34" charset="-122"/>
                <a:cs typeface="Calibri" pitchFamily="34" charset="-120"/>
              </a:rPr>
              <a:t>Konsentrasi dapat terganggu oleh kebisingan, rasa bosan, rasa kantuk, maupun penggunaan HP.
</a:t>
            </a:r>
            <a:pPr indent="0" marL="0">
              <a:lnSpc>
                <a:spcPct val="125000"/>
              </a:lnSpc>
              <a:buNone/>
            </a:pPr>
            <a:r>
              <a:rPr lang="en-US" sz="1400" dirty="0">
                <a:solidFill>
                  <a:srgbClr val="2D1B4E"/>
                </a:solidFill>
                <a:latin typeface="Calibri" pitchFamily="34" charset="0"/>
                <a:ea typeface="Calibri" pitchFamily="34" charset="-122"/>
                <a:cs typeface="Calibri" pitchFamily="34" charset="-120"/>
              </a:rPr>
              <a:t>Musik menjadi salah satu cara yang sering digunakan siswa untuk menciptakan suasana belajar yang nyaman — membantu meningkatkan mood, motivasi, perhatian, dan konsentrasi, meskipun pengaruhnya berbeda pada setiap siswa.</a:t>
            </a:r>
            <a:endParaRPr lang="en-US" sz="1400" dirty="0"/>
          </a:p>
        </p:txBody>
      </p:sp>
      <p:sp>
        <p:nvSpPr>
          <p:cNvPr id="6" name="Shape 4"/>
          <p:cNvSpPr/>
          <p:nvPr/>
        </p:nvSpPr>
        <p:spPr>
          <a:xfrm>
            <a:off x="640080" y="4892040"/>
            <a:ext cx="6492240" cy="1097280"/>
          </a:xfrm>
          <a:prstGeom prst="roundRect">
            <a:avLst>
              <a:gd name="adj" fmla="val 6667"/>
            </a:avLst>
          </a:prstGeom>
          <a:solidFill>
            <a:srgbClr val="EFE8F9"/>
          </a:solidFill>
          <a:ln/>
        </p:spPr>
      </p:sp>
      <p:sp>
        <p:nvSpPr>
          <p:cNvPr id="7" name="Shape 5"/>
          <p:cNvSpPr/>
          <p:nvPr/>
        </p:nvSpPr>
        <p:spPr>
          <a:xfrm>
            <a:off x="868680" y="5074920"/>
            <a:ext cx="731520" cy="731520"/>
          </a:xfrm>
          <a:prstGeom prst="ellipse">
            <a:avLst/>
          </a:prstGeom>
          <a:solidFill>
            <a:srgbClr val="2D1B4E"/>
          </a:solidFill>
          <a:ln/>
        </p:spPr>
      </p:sp>
      <p:pic>
        <p:nvPicPr>
          <p:cNvPr id="8" name="Image 0" descr="/home/claude/kti-ppt/icon_heart.png">    </p:cNvPr>
          <p:cNvPicPr>
            <a:picLocks noChangeAspect="1"/>
          </p:cNvPicPr>
          <p:nvPr/>
        </p:nvPicPr>
        <p:blipFill>
          <a:blip r:embed="rId1"/>
          <a:stretch>
            <a:fillRect/>
          </a:stretch>
        </p:blipFill>
        <p:spPr>
          <a:xfrm>
            <a:off x="1058875" y="5265115"/>
            <a:ext cx="351130" cy="351130"/>
          </a:xfrm>
          <a:prstGeom prst="rect">
            <a:avLst/>
          </a:prstGeom>
        </p:spPr>
      </p:pic>
      <p:sp>
        <p:nvSpPr>
          <p:cNvPr id="9" name="Text 6"/>
          <p:cNvSpPr/>
          <p:nvPr/>
        </p:nvSpPr>
        <p:spPr>
          <a:xfrm>
            <a:off x="1737360" y="5074920"/>
            <a:ext cx="5212080" cy="731520"/>
          </a:xfrm>
          <a:prstGeom prst="rect">
            <a:avLst/>
          </a:prstGeom>
          <a:noFill/>
          <a:ln/>
        </p:spPr>
        <p:txBody>
          <a:bodyPr wrap="square" rtlCol="0" anchor="ctr"/>
          <a:lstStyle/>
          <a:p>
            <a:pPr indent="0" marL="0">
              <a:lnSpc>
                <a:spcPct val="115000"/>
              </a:lnSpc>
              <a:buNone/>
            </a:pPr>
            <a:r>
              <a:rPr lang="en-US" sz="1250" i="1" dirty="0">
                <a:solidFill>
                  <a:srgbClr val="2D1B4E"/>
                </a:solidFill>
                <a:latin typeface="Calibri" pitchFamily="34" charset="0"/>
                <a:ea typeface="Calibri" pitchFamily="34" charset="-122"/>
                <a:cs typeface="Calibri" pitchFamily="34" charset="-120"/>
              </a:rPr>
              <a:t>Rasa nyaman yang tepat membuat siswa lebih siap fokus dan menyerap materi.</a:t>
            </a:r>
            <a:endParaRPr lang="en-US" sz="1250" dirty="0"/>
          </a:p>
        </p:txBody>
      </p:sp>
      <p:sp>
        <p:nvSpPr>
          <p:cNvPr id="10" name="Shape 7"/>
          <p:cNvSpPr/>
          <p:nvPr/>
        </p:nvSpPr>
        <p:spPr>
          <a:xfrm>
            <a:off x="7406640" y="1508760"/>
            <a:ext cx="4114800" cy="4480560"/>
          </a:xfrm>
          <a:prstGeom prst="roundRect">
            <a:avLst>
              <a:gd name="adj" fmla="val 1778"/>
            </a:avLst>
          </a:prstGeom>
          <a:solidFill>
            <a:srgbClr val="2D1B4E"/>
          </a:solidFill>
          <a:ln/>
        </p:spPr>
      </p:sp>
      <p:sp>
        <p:nvSpPr>
          <p:cNvPr id="11" name="Shape 8"/>
          <p:cNvSpPr/>
          <p:nvPr/>
        </p:nvSpPr>
        <p:spPr>
          <a:xfrm>
            <a:off x="9006840" y="1965960"/>
            <a:ext cx="914400" cy="914400"/>
          </a:xfrm>
          <a:prstGeom prst="ellipse">
            <a:avLst/>
          </a:prstGeom>
          <a:solidFill>
            <a:srgbClr val="E3B23C"/>
          </a:solidFill>
          <a:ln/>
        </p:spPr>
      </p:sp>
      <p:pic>
        <p:nvPicPr>
          <p:cNvPr id="12" name="Image 1" descr="/home/claude/kti-ppt/icon_wave.png">    </p:cNvPr>
          <p:cNvPicPr>
            <a:picLocks noChangeAspect="1"/>
          </p:cNvPicPr>
          <p:nvPr/>
        </p:nvPicPr>
        <p:blipFill>
          <a:blip r:embed="rId2"/>
          <a:stretch>
            <a:fillRect/>
          </a:stretch>
        </p:blipFill>
        <p:spPr>
          <a:xfrm>
            <a:off x="9244584" y="2203704"/>
            <a:ext cx="438912" cy="438912"/>
          </a:xfrm>
          <a:prstGeom prst="rect">
            <a:avLst/>
          </a:prstGeom>
        </p:spPr>
      </p:pic>
      <p:sp>
        <p:nvSpPr>
          <p:cNvPr id="13" name="Text 9"/>
          <p:cNvSpPr/>
          <p:nvPr/>
        </p:nvSpPr>
        <p:spPr>
          <a:xfrm>
            <a:off x="7680960" y="3108960"/>
            <a:ext cx="3566160" cy="731520"/>
          </a:xfrm>
          <a:prstGeom prst="rect">
            <a:avLst/>
          </a:prstGeom>
          <a:noFill/>
          <a:ln/>
        </p:spPr>
        <p:txBody>
          <a:bodyPr wrap="square" rtlCol="0" anchor="ctr"/>
          <a:lstStyle/>
          <a:p>
            <a:pPr algn="ctr" indent="0" marL="0">
              <a:buNone/>
            </a:pPr>
            <a:r>
              <a:rPr lang="en-US" sz="1250" i="1" dirty="0">
                <a:solidFill>
                  <a:srgbClr val="C9BBEA"/>
                </a:solidFill>
                <a:latin typeface="Calibri" pitchFamily="34" charset="0"/>
                <a:ea typeface="Calibri" pitchFamily="34" charset="-122"/>
                <a:cs typeface="Calibri" pitchFamily="34" charset="-120"/>
              </a:rPr>
              <a:t>Kebisingan · Kebosanan</a:t>
            </a:r>
            <a:endParaRPr lang="en-US" sz="1250" dirty="0"/>
          </a:p>
          <a:p>
            <a:pPr algn="ctr" indent="0" marL="0">
              <a:buNone/>
            </a:pPr>
            <a:r>
              <a:rPr lang="en-US" sz="1250" i="1" dirty="0">
                <a:solidFill>
                  <a:srgbClr val="C9BBEA"/>
                </a:solidFill>
                <a:latin typeface="Calibri" pitchFamily="34" charset="0"/>
                <a:ea typeface="Calibri" pitchFamily="34" charset="-122"/>
                <a:cs typeface="Calibri" pitchFamily="34" charset="-120"/>
              </a:rPr>
              <a:t>Kantuk · Gawai</a:t>
            </a:r>
            <a:endParaRPr lang="en-US" sz="1250" dirty="0"/>
          </a:p>
        </p:txBody>
      </p:sp>
      <p:sp>
        <p:nvSpPr>
          <p:cNvPr id="14" name="Shape 10"/>
          <p:cNvSpPr/>
          <p:nvPr/>
        </p:nvSpPr>
        <p:spPr>
          <a:xfrm>
            <a:off x="8138160" y="3977640"/>
            <a:ext cx="2468880" cy="27432"/>
          </a:xfrm>
          <a:prstGeom prst="rect">
            <a:avLst/>
          </a:prstGeom>
          <a:solidFill>
            <a:srgbClr val="9C8FC4"/>
          </a:solidFill>
          <a:ln/>
        </p:spPr>
      </p:sp>
      <p:sp>
        <p:nvSpPr>
          <p:cNvPr id="15" name="Text 11"/>
          <p:cNvSpPr/>
          <p:nvPr/>
        </p:nvSpPr>
        <p:spPr>
          <a:xfrm>
            <a:off x="7680960" y="4160520"/>
            <a:ext cx="3566160" cy="73152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Musik sebagai</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solusi suasana belajar</a:t>
            </a:r>
            <a:endParaRPr lang="en-US" sz="1500" dirty="0"/>
          </a:p>
        </p:txBody>
      </p:sp>
      <p:sp>
        <p:nvSpPr>
          <p:cNvPr id="16" name="Shape 12"/>
          <p:cNvSpPr/>
          <p:nvPr/>
        </p:nvSpPr>
        <p:spPr>
          <a:xfrm>
            <a:off x="9006840" y="4937760"/>
            <a:ext cx="640080" cy="640080"/>
          </a:xfrm>
          <a:prstGeom prst="ellipse">
            <a:avLst/>
          </a:prstGeom>
          <a:solidFill>
            <a:srgbClr val="FFFFFF"/>
          </a:solidFill>
          <a:ln/>
        </p:spPr>
      </p:sp>
      <p:pic>
        <p:nvPicPr>
          <p:cNvPr id="17" name="Image 2" descr="/home/claude/kti-ppt/icon_music.png">    </p:cNvPr>
          <p:cNvPicPr>
            <a:picLocks noChangeAspect="1"/>
          </p:cNvPicPr>
          <p:nvPr/>
        </p:nvPicPr>
        <p:blipFill>
          <a:blip r:embed="rId3"/>
          <a:stretch>
            <a:fillRect/>
          </a:stretch>
        </p:blipFill>
        <p:spPr>
          <a:xfrm>
            <a:off x="9173261" y="5104181"/>
            <a:ext cx="307238" cy="307238"/>
          </a:xfrm>
          <a:prstGeom prst="rect">
            <a:avLst/>
          </a:prstGeom>
        </p:spPr>
      </p:pic>
      <p:sp>
        <p:nvSpPr>
          <p:cNvPr id="18" name="Text 13"/>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19" name="Text 1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FC"/>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 · PENDAHULUAN</a:t>
            </a:r>
            <a:endParaRPr lang="en-US" sz="1250" dirty="0"/>
          </a:p>
        </p:txBody>
      </p:sp>
      <p:sp>
        <p:nvSpPr>
          <p:cNvPr id="3" name="Text 1"/>
          <p:cNvSpPr/>
          <p:nvPr/>
        </p:nvSpPr>
        <p:spPr>
          <a:xfrm>
            <a:off x="640080" y="786384"/>
            <a:ext cx="9144000" cy="502920"/>
          </a:xfrm>
          <a:prstGeom prst="rect">
            <a:avLst/>
          </a:prstGeom>
          <a:noFill/>
          <a:ln/>
        </p:spPr>
        <p:txBody>
          <a:bodyPr wrap="square" rtlCol="0" anchor="ctr"/>
          <a:lstStyle/>
          <a:p>
            <a:pPr indent="0" marL="0">
              <a:buNone/>
            </a:pPr>
            <a:r>
              <a:rPr lang="en-US" sz="2700" b="1" dirty="0">
                <a:solidFill>
                  <a:srgbClr val="2D1B4E"/>
                </a:solidFill>
                <a:latin typeface="Cambria" pitchFamily="34" charset="0"/>
                <a:ea typeface="Cambria" pitchFamily="34" charset="-122"/>
                <a:cs typeface="Cambria" pitchFamily="34" charset="-120"/>
              </a:rPr>
              <a:t>Rumusan Masalah &amp; Tujuan</a:t>
            </a:r>
            <a:endParaRPr lang="en-US" sz="2700" dirty="0"/>
          </a:p>
        </p:txBody>
      </p:sp>
      <p:sp>
        <p:nvSpPr>
          <p:cNvPr id="4" name="Shape 2"/>
          <p:cNvSpPr/>
          <p:nvPr/>
        </p:nvSpPr>
        <p:spPr>
          <a:xfrm>
            <a:off x="640080" y="1554480"/>
            <a:ext cx="5212080" cy="2880360"/>
          </a:xfrm>
          <a:prstGeom prst="roundRect">
            <a:avLst>
              <a:gd name="adj" fmla="val 2540"/>
            </a:avLst>
          </a:prstGeom>
          <a:solidFill>
            <a:srgbClr val="FFFFFF"/>
          </a:solidFill>
          <a:ln w="12700">
            <a:solidFill>
              <a:srgbClr val="E4DCF2"/>
            </a:solidFill>
            <a:prstDash val="solid"/>
          </a:ln>
        </p:spPr>
      </p:sp>
      <p:sp>
        <p:nvSpPr>
          <p:cNvPr id="5" name="Shape 3"/>
          <p:cNvSpPr/>
          <p:nvPr/>
        </p:nvSpPr>
        <p:spPr>
          <a:xfrm>
            <a:off x="960120" y="1828800"/>
            <a:ext cx="502920" cy="502920"/>
          </a:xfrm>
          <a:prstGeom prst="ellipse">
            <a:avLst/>
          </a:prstGeom>
          <a:solidFill>
            <a:srgbClr val="2D1B4E"/>
          </a:solidFill>
          <a:ln/>
        </p:spPr>
      </p:sp>
      <p:pic>
        <p:nvPicPr>
          <p:cNvPr id="6" name="Image 0" descr="/home/claude/kti-ppt/icon_question.png">    </p:cNvPr>
          <p:cNvPicPr>
            <a:picLocks noChangeAspect="1"/>
          </p:cNvPicPr>
          <p:nvPr/>
        </p:nvPicPr>
        <p:blipFill>
          <a:blip r:embed="rId1"/>
          <a:stretch>
            <a:fillRect/>
          </a:stretch>
        </p:blipFill>
        <p:spPr>
          <a:xfrm>
            <a:off x="1090879" y="1959559"/>
            <a:ext cx="241402" cy="241402"/>
          </a:xfrm>
          <a:prstGeom prst="rect">
            <a:avLst/>
          </a:prstGeom>
        </p:spPr>
      </p:pic>
      <p:sp>
        <p:nvSpPr>
          <p:cNvPr id="7" name="Text 4"/>
          <p:cNvSpPr/>
          <p:nvPr/>
        </p:nvSpPr>
        <p:spPr>
          <a:xfrm>
            <a:off x="1600200" y="1847088"/>
            <a:ext cx="3931920" cy="457200"/>
          </a:xfrm>
          <a:prstGeom prst="rect">
            <a:avLst/>
          </a:prstGeom>
          <a:noFill/>
          <a:ln/>
        </p:spPr>
        <p:txBody>
          <a:bodyPr wrap="square" rtlCol="0" anchor="ctr"/>
          <a:lstStyle/>
          <a:p>
            <a:pPr indent="0" marL="0">
              <a:buNone/>
            </a:pPr>
            <a:r>
              <a:rPr lang="en-US" sz="1600" b="1" dirty="0">
                <a:solidFill>
                  <a:srgbClr val="2D1B4E"/>
                </a:solidFill>
                <a:latin typeface="Cambria" pitchFamily="34" charset="0"/>
                <a:ea typeface="Cambria" pitchFamily="34" charset="-122"/>
                <a:cs typeface="Cambria" pitchFamily="34" charset="-120"/>
              </a:rPr>
              <a:t>Rumusan Masalah</a:t>
            </a:r>
            <a:endParaRPr lang="en-US" sz="1600" dirty="0"/>
          </a:p>
        </p:txBody>
      </p:sp>
      <p:sp>
        <p:nvSpPr>
          <p:cNvPr id="8" name="Text 5"/>
          <p:cNvSpPr/>
          <p:nvPr/>
        </p:nvSpPr>
        <p:spPr>
          <a:xfrm>
            <a:off x="1005840" y="2542032"/>
            <a:ext cx="4572000" cy="1737360"/>
          </a:xfrm>
          <a:prstGeom prst="rect">
            <a:avLst/>
          </a:prstGeom>
          <a:noFill/>
          <a:ln/>
        </p:spPr>
        <p:txBody>
          <a:bodyPr wrap="square" rtlCol="0" anchor="t"/>
          <a:lstStyle/>
          <a:p>
            <a:pPr marL="342900" indent="-342900">
              <a:lnSpc>
                <a:spcPct val="120000"/>
              </a:lnSpc>
              <a:spcAft>
                <a:spcPts val="1400"/>
              </a:spcAft>
              <a:buSzPct val="100000"/>
              <a:buChar char="•"/>
            </a:pPr>
            <a:r>
              <a:rPr lang="en-US" sz="1350" dirty="0">
                <a:solidFill>
                  <a:srgbClr val="2D1B4E"/>
                </a:solidFill>
                <a:latin typeface="Calibri" pitchFamily="34" charset="0"/>
                <a:ea typeface="Calibri" pitchFamily="34" charset="-122"/>
                <a:cs typeface="Calibri" pitchFamily="34" charset="-120"/>
              </a:rPr>
              <a:t>Apa peran musik dalam menciptakan suasana belajar?</a:t>
            </a:r>
            <a:endParaRPr lang="en-US" sz="1350" dirty="0"/>
          </a:p>
          <a:p>
            <a:pPr marL="342900" indent="-342900">
              <a:lnSpc>
                <a:spcPct val="120000"/>
              </a:lnSpc>
              <a:buSzPct val="100000"/>
              <a:buChar char="•"/>
            </a:pPr>
            <a:r>
              <a:rPr lang="en-US" sz="1350" dirty="0">
                <a:solidFill>
                  <a:srgbClr val="2D1B4E"/>
                </a:solidFill>
                <a:latin typeface="Calibri" pitchFamily="34" charset="0"/>
                <a:ea typeface="Calibri" pitchFamily="34" charset="-122"/>
                <a:cs typeface="Calibri" pitchFamily="34" charset="-120"/>
              </a:rPr>
              <a:t>Bagaimana musik berperan dalam menciptakan suasana belajar?</a:t>
            </a:r>
            <a:endParaRPr lang="en-US" sz="1350" dirty="0"/>
          </a:p>
        </p:txBody>
      </p:sp>
      <p:sp>
        <p:nvSpPr>
          <p:cNvPr id="9" name="Shape 6"/>
          <p:cNvSpPr/>
          <p:nvPr/>
        </p:nvSpPr>
        <p:spPr>
          <a:xfrm>
            <a:off x="6035040" y="1554480"/>
            <a:ext cx="5486400" cy="2880360"/>
          </a:xfrm>
          <a:prstGeom prst="roundRect">
            <a:avLst>
              <a:gd name="adj" fmla="val 2540"/>
            </a:avLst>
          </a:prstGeom>
          <a:solidFill>
            <a:srgbClr val="2D1B4E"/>
          </a:solidFill>
          <a:ln/>
        </p:spPr>
      </p:sp>
      <p:sp>
        <p:nvSpPr>
          <p:cNvPr id="10" name="Shape 7"/>
          <p:cNvSpPr/>
          <p:nvPr/>
        </p:nvSpPr>
        <p:spPr>
          <a:xfrm>
            <a:off x="6355080" y="1828800"/>
            <a:ext cx="502920" cy="502920"/>
          </a:xfrm>
          <a:prstGeom prst="ellipse">
            <a:avLst/>
          </a:prstGeom>
          <a:solidFill>
            <a:srgbClr val="E3B23C"/>
          </a:solidFill>
          <a:ln/>
        </p:spPr>
      </p:sp>
      <p:pic>
        <p:nvPicPr>
          <p:cNvPr id="11" name="Image 1" descr="/home/claude/kti-ppt/icon_target.png">    </p:cNvPr>
          <p:cNvPicPr>
            <a:picLocks noChangeAspect="1"/>
          </p:cNvPicPr>
          <p:nvPr/>
        </p:nvPicPr>
        <p:blipFill>
          <a:blip r:embed="rId2"/>
          <a:stretch>
            <a:fillRect/>
          </a:stretch>
        </p:blipFill>
        <p:spPr>
          <a:xfrm>
            <a:off x="6485839" y="1959559"/>
            <a:ext cx="241402" cy="241402"/>
          </a:xfrm>
          <a:prstGeom prst="rect">
            <a:avLst/>
          </a:prstGeom>
        </p:spPr>
      </p:pic>
      <p:sp>
        <p:nvSpPr>
          <p:cNvPr id="12" name="Text 8"/>
          <p:cNvSpPr/>
          <p:nvPr/>
        </p:nvSpPr>
        <p:spPr>
          <a:xfrm>
            <a:off x="6995160" y="1847088"/>
            <a:ext cx="411480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Tujuan Penulisan</a:t>
            </a:r>
            <a:endParaRPr lang="en-US" sz="1600" dirty="0"/>
          </a:p>
        </p:txBody>
      </p:sp>
      <p:sp>
        <p:nvSpPr>
          <p:cNvPr id="13" name="Text 9"/>
          <p:cNvSpPr/>
          <p:nvPr/>
        </p:nvSpPr>
        <p:spPr>
          <a:xfrm>
            <a:off x="6400800" y="2542032"/>
            <a:ext cx="4892040" cy="1737360"/>
          </a:xfrm>
          <a:prstGeom prst="rect">
            <a:avLst/>
          </a:prstGeom>
          <a:noFill/>
          <a:ln/>
        </p:spPr>
        <p:txBody>
          <a:bodyPr wrap="square" rtlCol="0" anchor="t"/>
          <a:lstStyle/>
          <a:p>
            <a:pPr marL="342900" indent="-342900">
              <a:lnSpc>
                <a:spcPct val="120000"/>
              </a:lnSpc>
              <a:spcAft>
                <a:spcPts val="1400"/>
              </a:spcAft>
              <a:buSzPct val="100000"/>
              <a:buChar char="•"/>
            </a:pPr>
            <a:r>
              <a:rPr lang="en-US" sz="1350" dirty="0">
                <a:solidFill>
                  <a:srgbClr val="C9BBEA"/>
                </a:solidFill>
                <a:latin typeface="Calibri" pitchFamily="34" charset="0"/>
                <a:ea typeface="Calibri" pitchFamily="34" charset="-122"/>
                <a:cs typeface="Calibri" pitchFamily="34" charset="-120"/>
              </a:rPr>
              <a:t>Mengetahui peran musik dalam menciptakan suasana belajar.</a:t>
            </a:r>
            <a:endParaRPr lang="en-US" sz="1350" dirty="0"/>
          </a:p>
          <a:p>
            <a:pPr marL="342900" indent="-342900">
              <a:lnSpc>
                <a:spcPct val="120000"/>
              </a:lnSpc>
              <a:buSzPct val="100000"/>
              <a:buChar char="•"/>
            </a:pPr>
            <a:r>
              <a:rPr lang="en-US" sz="1350" dirty="0">
                <a:solidFill>
                  <a:srgbClr val="C9BBEA"/>
                </a:solidFill>
                <a:latin typeface="Calibri" pitchFamily="34" charset="0"/>
                <a:ea typeface="Calibri" pitchFamily="34" charset="-122"/>
                <a:cs typeface="Calibri" pitchFamily="34" charset="-120"/>
              </a:rPr>
              <a:t>Mengetahui bagaimana musik berperan dalam menciptakan suasana belajar.</a:t>
            </a:r>
            <a:endParaRPr lang="en-US" sz="1350" dirty="0"/>
          </a:p>
        </p:txBody>
      </p:sp>
      <p:sp>
        <p:nvSpPr>
          <p:cNvPr id="14" name="Shape 10"/>
          <p:cNvSpPr/>
          <p:nvPr/>
        </p:nvSpPr>
        <p:spPr>
          <a:xfrm>
            <a:off x="640080" y="4709160"/>
            <a:ext cx="10881360" cy="1280160"/>
          </a:xfrm>
          <a:prstGeom prst="roundRect">
            <a:avLst>
              <a:gd name="adj" fmla="val 5714"/>
            </a:avLst>
          </a:prstGeom>
          <a:solidFill>
            <a:srgbClr val="EFE8F9"/>
          </a:solidFill>
          <a:ln/>
        </p:spPr>
      </p:sp>
      <p:sp>
        <p:nvSpPr>
          <p:cNvPr id="15" name="Shape 11"/>
          <p:cNvSpPr/>
          <p:nvPr/>
        </p:nvSpPr>
        <p:spPr>
          <a:xfrm>
            <a:off x="914400" y="4937760"/>
            <a:ext cx="640080" cy="640080"/>
          </a:xfrm>
          <a:prstGeom prst="ellipse">
            <a:avLst/>
          </a:prstGeom>
          <a:solidFill>
            <a:srgbClr val="2D1B4E"/>
          </a:solidFill>
          <a:ln/>
        </p:spPr>
      </p:sp>
      <p:pic>
        <p:nvPicPr>
          <p:cNvPr id="16" name="Image 2" descr="/home/claude/kti-ppt/icon_music.png">    </p:cNvPr>
          <p:cNvPicPr>
            <a:picLocks noChangeAspect="1"/>
          </p:cNvPicPr>
          <p:nvPr/>
        </p:nvPicPr>
        <p:blipFill>
          <a:blip r:embed="rId3"/>
          <a:stretch>
            <a:fillRect/>
          </a:stretch>
        </p:blipFill>
        <p:spPr>
          <a:xfrm>
            <a:off x="1080821" y="5104181"/>
            <a:ext cx="307238" cy="307238"/>
          </a:xfrm>
          <a:prstGeom prst="rect">
            <a:avLst/>
          </a:prstGeom>
        </p:spPr>
      </p:pic>
      <p:sp>
        <p:nvSpPr>
          <p:cNvPr id="17" name="Text 12"/>
          <p:cNvSpPr/>
          <p:nvPr/>
        </p:nvSpPr>
        <p:spPr>
          <a:xfrm>
            <a:off x="1737360" y="4937760"/>
            <a:ext cx="9052560" cy="822960"/>
          </a:xfrm>
          <a:prstGeom prst="rect">
            <a:avLst/>
          </a:prstGeom>
          <a:noFill/>
          <a:ln/>
        </p:spPr>
        <p:txBody>
          <a:bodyPr wrap="square" rtlCol="0" anchor="ctr"/>
          <a:lstStyle/>
          <a:p>
            <a:pPr indent="0" marL="0">
              <a:lnSpc>
                <a:spcPct val="115000"/>
              </a:lnSpc>
              <a:buNone/>
            </a:pPr>
            <a:r>
              <a:rPr lang="en-US" sz="1300" i="1" dirty="0">
                <a:solidFill>
                  <a:srgbClr val="2D1B4E"/>
                </a:solidFill>
                <a:latin typeface="Calibri" pitchFamily="34" charset="0"/>
                <a:ea typeface="Calibri" pitchFamily="34" charset="-122"/>
                <a:cs typeface="Calibri" pitchFamily="34" charset="-120"/>
              </a:rPr>
              <a:t>Kedua pertanyaan ini dijawab melalui kajian teori pada Bab II dan pembahasan hasil analisis pada Bab III.</a:t>
            </a:r>
            <a:endParaRPr lang="en-US" sz="1300" dirty="0"/>
          </a:p>
        </p:txBody>
      </p:sp>
      <p:sp>
        <p:nvSpPr>
          <p:cNvPr id="18" name="Text 13"/>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19" name="Text 1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II · TINJAUAN PUSTAKA</a:t>
            </a:r>
            <a:endParaRPr lang="en-US" sz="1250" dirty="0"/>
          </a:p>
        </p:txBody>
      </p:sp>
      <p:sp>
        <p:nvSpPr>
          <p:cNvPr id="3" name="Text 1"/>
          <p:cNvSpPr/>
          <p:nvPr/>
        </p:nvSpPr>
        <p:spPr>
          <a:xfrm>
            <a:off x="640080" y="786384"/>
            <a:ext cx="7315200" cy="502920"/>
          </a:xfrm>
          <a:prstGeom prst="rect">
            <a:avLst/>
          </a:prstGeom>
          <a:noFill/>
          <a:ln/>
        </p:spPr>
        <p:txBody>
          <a:bodyPr wrap="square" rtlCol="0" anchor="ctr"/>
          <a:lstStyle/>
          <a:p>
            <a:pPr indent="0" marL="0">
              <a:buNone/>
            </a:pPr>
            <a:r>
              <a:rPr lang="en-US" sz="2700" b="1" dirty="0">
                <a:solidFill>
                  <a:srgbClr val="2D1B4E"/>
                </a:solidFill>
                <a:latin typeface="Cambria" pitchFamily="34" charset="0"/>
                <a:ea typeface="Cambria" pitchFamily="34" charset="-122"/>
                <a:cs typeface="Cambria" pitchFamily="34" charset="-120"/>
              </a:rPr>
              <a:t>Landasan Teori</a:t>
            </a:r>
            <a:endParaRPr lang="en-US" sz="2700" dirty="0"/>
          </a:p>
        </p:txBody>
      </p:sp>
      <p:sp>
        <p:nvSpPr>
          <p:cNvPr id="4" name="Shape 2"/>
          <p:cNvSpPr/>
          <p:nvPr/>
        </p:nvSpPr>
        <p:spPr>
          <a:xfrm>
            <a:off x="640080" y="1554480"/>
            <a:ext cx="5212080" cy="2103120"/>
          </a:xfrm>
          <a:prstGeom prst="roundRect">
            <a:avLst>
              <a:gd name="adj" fmla="val 3478"/>
            </a:avLst>
          </a:prstGeom>
          <a:solidFill>
            <a:srgbClr val="FFFFFF"/>
          </a:solidFill>
          <a:ln w="12700">
            <a:solidFill>
              <a:srgbClr val="E4DCF2"/>
            </a:solidFill>
            <a:prstDash val="solid"/>
          </a:ln>
        </p:spPr>
      </p:sp>
      <p:sp>
        <p:nvSpPr>
          <p:cNvPr id="5" name="Shape 3"/>
          <p:cNvSpPr/>
          <p:nvPr/>
        </p:nvSpPr>
        <p:spPr>
          <a:xfrm>
            <a:off x="896112" y="1810512"/>
            <a:ext cx="566928" cy="566928"/>
          </a:xfrm>
          <a:prstGeom prst="ellipse">
            <a:avLst/>
          </a:prstGeom>
          <a:solidFill>
            <a:srgbClr val="2D1B4E"/>
          </a:solidFill>
          <a:ln/>
        </p:spPr>
      </p:sp>
      <p:pic>
        <p:nvPicPr>
          <p:cNvPr id="6" name="Image 0" descr="/home/claude/kti-ppt/icon_handshake.png">    </p:cNvPr>
          <p:cNvPicPr>
            <a:picLocks noChangeAspect="1"/>
          </p:cNvPicPr>
          <p:nvPr/>
        </p:nvPicPr>
        <p:blipFill>
          <a:blip r:embed="rId1"/>
          <a:stretch>
            <a:fillRect/>
          </a:stretch>
        </p:blipFill>
        <p:spPr>
          <a:xfrm>
            <a:off x="1043513" y="1957913"/>
            <a:ext cx="272125" cy="272125"/>
          </a:xfrm>
          <a:prstGeom prst="rect">
            <a:avLst/>
          </a:prstGeom>
        </p:spPr>
      </p:pic>
      <p:sp>
        <p:nvSpPr>
          <p:cNvPr id="7" name="Text 4"/>
          <p:cNvSpPr/>
          <p:nvPr/>
        </p:nvSpPr>
        <p:spPr>
          <a:xfrm>
            <a:off x="1645920" y="1783080"/>
            <a:ext cx="4023360" cy="411480"/>
          </a:xfrm>
          <a:prstGeom prst="rect">
            <a:avLst/>
          </a:prstGeom>
          <a:noFill/>
          <a:ln/>
        </p:spPr>
        <p:txBody>
          <a:bodyPr wrap="square" rtlCol="0" anchor="ctr"/>
          <a:lstStyle/>
          <a:p>
            <a:pPr indent="0" marL="0">
              <a:buNone/>
            </a:pPr>
            <a:r>
              <a:rPr lang="en-US" sz="1600" b="1" dirty="0">
                <a:solidFill>
                  <a:srgbClr val="2D1B4E"/>
                </a:solidFill>
                <a:latin typeface="Cambria" pitchFamily="34" charset="0"/>
                <a:ea typeface="Cambria" pitchFamily="34" charset="-122"/>
                <a:cs typeface="Cambria" pitchFamily="34" charset="-120"/>
              </a:rPr>
              <a:t>Peran</a:t>
            </a:r>
            <a:endParaRPr lang="en-US" sz="1600" dirty="0"/>
          </a:p>
        </p:txBody>
      </p:sp>
      <p:sp>
        <p:nvSpPr>
          <p:cNvPr id="8" name="Text 5"/>
          <p:cNvSpPr/>
          <p:nvPr/>
        </p:nvSpPr>
        <p:spPr>
          <a:xfrm>
            <a:off x="896112" y="2377440"/>
            <a:ext cx="4700016" cy="1143000"/>
          </a:xfrm>
          <a:prstGeom prst="rect">
            <a:avLst/>
          </a:prstGeom>
          <a:noFill/>
          <a:ln/>
        </p:spPr>
        <p:txBody>
          <a:bodyPr wrap="square" rtlCol="0" anchor="t"/>
          <a:lstStyle/>
          <a:p>
            <a:pPr indent="0" marL="0">
              <a:lnSpc>
                <a:spcPct val="115000"/>
              </a:lnSpc>
              <a:buNone/>
            </a:pPr>
            <a:r>
              <a:rPr lang="en-US" sz="1150" dirty="0">
                <a:solidFill>
                  <a:srgbClr val="6E5F94"/>
                </a:solidFill>
                <a:latin typeface="Calibri" pitchFamily="34" charset="0"/>
                <a:ea typeface="Calibri" pitchFamily="34" charset="-122"/>
                <a:cs typeface="Calibri" pitchFamily="34" charset="-120"/>
              </a:rPr>
              <a:t>Fungsi atau kedudukan yang dijalankan seseorang/sesuatu dalam suatu kegiatan sehingga memberi pengaruh (Awaludin &amp; Ramdani, 2022).</a:t>
            </a:r>
            <a:endParaRPr lang="en-US" sz="1150" dirty="0"/>
          </a:p>
        </p:txBody>
      </p:sp>
      <p:sp>
        <p:nvSpPr>
          <p:cNvPr id="9" name="Shape 6"/>
          <p:cNvSpPr/>
          <p:nvPr/>
        </p:nvSpPr>
        <p:spPr>
          <a:xfrm>
            <a:off x="6217920" y="1554480"/>
            <a:ext cx="5212080" cy="2103120"/>
          </a:xfrm>
          <a:prstGeom prst="roundRect">
            <a:avLst>
              <a:gd name="adj" fmla="val 3478"/>
            </a:avLst>
          </a:prstGeom>
          <a:solidFill>
            <a:srgbClr val="FFFFFF"/>
          </a:solidFill>
          <a:ln w="12700">
            <a:solidFill>
              <a:srgbClr val="E4DCF2"/>
            </a:solidFill>
            <a:prstDash val="solid"/>
          </a:ln>
        </p:spPr>
      </p:sp>
      <p:sp>
        <p:nvSpPr>
          <p:cNvPr id="10" name="Shape 7"/>
          <p:cNvSpPr/>
          <p:nvPr/>
        </p:nvSpPr>
        <p:spPr>
          <a:xfrm>
            <a:off x="6473952" y="1810512"/>
            <a:ext cx="566928" cy="566928"/>
          </a:xfrm>
          <a:prstGeom prst="ellipse">
            <a:avLst/>
          </a:prstGeom>
          <a:solidFill>
            <a:srgbClr val="2D1B4E"/>
          </a:solidFill>
          <a:ln/>
        </p:spPr>
      </p:sp>
      <p:pic>
        <p:nvPicPr>
          <p:cNvPr id="11" name="Image 1" descr="/home/claude/kti-ppt/icon_music.png">    </p:cNvPr>
          <p:cNvPicPr>
            <a:picLocks noChangeAspect="1"/>
          </p:cNvPicPr>
          <p:nvPr/>
        </p:nvPicPr>
        <p:blipFill>
          <a:blip r:embed="rId2"/>
          <a:stretch>
            <a:fillRect/>
          </a:stretch>
        </p:blipFill>
        <p:spPr>
          <a:xfrm>
            <a:off x="6621353" y="1957913"/>
            <a:ext cx="272125" cy="272125"/>
          </a:xfrm>
          <a:prstGeom prst="rect">
            <a:avLst/>
          </a:prstGeom>
        </p:spPr>
      </p:pic>
      <p:sp>
        <p:nvSpPr>
          <p:cNvPr id="12" name="Text 8"/>
          <p:cNvSpPr/>
          <p:nvPr/>
        </p:nvSpPr>
        <p:spPr>
          <a:xfrm>
            <a:off x="7223760" y="1783080"/>
            <a:ext cx="4023360" cy="411480"/>
          </a:xfrm>
          <a:prstGeom prst="rect">
            <a:avLst/>
          </a:prstGeom>
          <a:noFill/>
          <a:ln/>
        </p:spPr>
        <p:txBody>
          <a:bodyPr wrap="square" rtlCol="0" anchor="ctr"/>
          <a:lstStyle/>
          <a:p>
            <a:pPr indent="0" marL="0">
              <a:buNone/>
            </a:pPr>
            <a:r>
              <a:rPr lang="en-US" sz="1600" b="1" dirty="0">
                <a:solidFill>
                  <a:srgbClr val="2D1B4E"/>
                </a:solidFill>
                <a:latin typeface="Cambria" pitchFamily="34" charset="0"/>
                <a:ea typeface="Cambria" pitchFamily="34" charset="-122"/>
                <a:cs typeface="Cambria" pitchFamily="34" charset="-120"/>
              </a:rPr>
              <a:t>Musik</a:t>
            </a:r>
            <a:endParaRPr lang="en-US" sz="1600" dirty="0"/>
          </a:p>
        </p:txBody>
      </p:sp>
      <p:sp>
        <p:nvSpPr>
          <p:cNvPr id="13" name="Text 9"/>
          <p:cNvSpPr/>
          <p:nvPr/>
        </p:nvSpPr>
        <p:spPr>
          <a:xfrm>
            <a:off x="6473952" y="2377440"/>
            <a:ext cx="4700016" cy="1143000"/>
          </a:xfrm>
          <a:prstGeom prst="rect">
            <a:avLst/>
          </a:prstGeom>
          <a:noFill/>
          <a:ln/>
        </p:spPr>
        <p:txBody>
          <a:bodyPr wrap="square" rtlCol="0" anchor="t"/>
          <a:lstStyle/>
          <a:p>
            <a:pPr indent="0" marL="0">
              <a:lnSpc>
                <a:spcPct val="115000"/>
              </a:lnSpc>
              <a:buNone/>
            </a:pPr>
            <a:r>
              <a:rPr lang="en-US" sz="1150" dirty="0">
                <a:solidFill>
                  <a:srgbClr val="6E5F94"/>
                </a:solidFill>
                <a:latin typeface="Calibri" pitchFamily="34" charset="0"/>
                <a:ea typeface="Calibri" pitchFamily="34" charset="-122"/>
                <a:cs typeface="Calibri" pitchFamily="34" charset="-120"/>
              </a:rPr>
              <a:t>Bunyi yang disusun teratur melalui nada, irama, melodi &amp; harmoni; memengaruhi pikiran dan suasana hati (Haryandri, 2020).</a:t>
            </a:r>
            <a:endParaRPr lang="en-US" sz="1150" dirty="0"/>
          </a:p>
        </p:txBody>
      </p:sp>
      <p:sp>
        <p:nvSpPr>
          <p:cNvPr id="14" name="Shape 10"/>
          <p:cNvSpPr/>
          <p:nvPr/>
        </p:nvSpPr>
        <p:spPr>
          <a:xfrm>
            <a:off x="640080" y="3977640"/>
            <a:ext cx="5212080" cy="2103120"/>
          </a:xfrm>
          <a:prstGeom prst="roundRect">
            <a:avLst>
              <a:gd name="adj" fmla="val 3478"/>
            </a:avLst>
          </a:prstGeom>
          <a:solidFill>
            <a:srgbClr val="FFFFFF"/>
          </a:solidFill>
          <a:ln w="12700">
            <a:solidFill>
              <a:srgbClr val="E4DCF2"/>
            </a:solidFill>
            <a:prstDash val="solid"/>
          </a:ln>
        </p:spPr>
      </p:sp>
      <p:sp>
        <p:nvSpPr>
          <p:cNvPr id="15" name="Shape 11"/>
          <p:cNvSpPr/>
          <p:nvPr/>
        </p:nvSpPr>
        <p:spPr>
          <a:xfrm>
            <a:off x="896112" y="4233672"/>
            <a:ext cx="566928" cy="566928"/>
          </a:xfrm>
          <a:prstGeom prst="ellipse">
            <a:avLst/>
          </a:prstGeom>
          <a:solidFill>
            <a:srgbClr val="2D1B4E"/>
          </a:solidFill>
          <a:ln/>
        </p:spPr>
      </p:sp>
      <p:pic>
        <p:nvPicPr>
          <p:cNvPr id="16" name="Image 2" descr="/home/claude/kti-ppt/icon_school.png">    </p:cNvPr>
          <p:cNvPicPr>
            <a:picLocks noChangeAspect="1"/>
          </p:cNvPicPr>
          <p:nvPr/>
        </p:nvPicPr>
        <p:blipFill>
          <a:blip r:embed="rId3"/>
          <a:stretch>
            <a:fillRect/>
          </a:stretch>
        </p:blipFill>
        <p:spPr>
          <a:xfrm>
            <a:off x="1043513" y="4381073"/>
            <a:ext cx="272125" cy="272125"/>
          </a:xfrm>
          <a:prstGeom prst="rect">
            <a:avLst/>
          </a:prstGeom>
        </p:spPr>
      </p:pic>
      <p:sp>
        <p:nvSpPr>
          <p:cNvPr id="17" name="Text 12"/>
          <p:cNvSpPr/>
          <p:nvPr/>
        </p:nvSpPr>
        <p:spPr>
          <a:xfrm>
            <a:off x="1645920" y="4206240"/>
            <a:ext cx="4023360" cy="411480"/>
          </a:xfrm>
          <a:prstGeom prst="rect">
            <a:avLst/>
          </a:prstGeom>
          <a:noFill/>
          <a:ln/>
        </p:spPr>
        <p:txBody>
          <a:bodyPr wrap="square" rtlCol="0" anchor="ctr"/>
          <a:lstStyle/>
          <a:p>
            <a:pPr indent="0" marL="0">
              <a:buNone/>
            </a:pPr>
            <a:r>
              <a:rPr lang="en-US" sz="1600" b="1" dirty="0">
                <a:solidFill>
                  <a:srgbClr val="2D1B4E"/>
                </a:solidFill>
                <a:latin typeface="Cambria" pitchFamily="34" charset="0"/>
                <a:ea typeface="Cambria" pitchFamily="34" charset="-122"/>
                <a:cs typeface="Cambria" pitchFamily="34" charset="-120"/>
              </a:rPr>
              <a:t>Suasana Belajar</a:t>
            </a:r>
            <a:endParaRPr lang="en-US" sz="1600" dirty="0"/>
          </a:p>
        </p:txBody>
      </p:sp>
      <p:sp>
        <p:nvSpPr>
          <p:cNvPr id="18" name="Text 13"/>
          <p:cNvSpPr/>
          <p:nvPr/>
        </p:nvSpPr>
        <p:spPr>
          <a:xfrm>
            <a:off x="896112" y="4800600"/>
            <a:ext cx="4700016" cy="1143000"/>
          </a:xfrm>
          <a:prstGeom prst="rect">
            <a:avLst/>
          </a:prstGeom>
          <a:noFill/>
          <a:ln/>
        </p:spPr>
        <p:txBody>
          <a:bodyPr wrap="square" rtlCol="0" anchor="t"/>
          <a:lstStyle/>
          <a:p>
            <a:pPr indent="0" marL="0">
              <a:lnSpc>
                <a:spcPct val="115000"/>
              </a:lnSpc>
              <a:buNone/>
            </a:pPr>
            <a:r>
              <a:rPr lang="en-US" sz="1150" dirty="0">
                <a:solidFill>
                  <a:srgbClr val="6E5F94"/>
                </a:solidFill>
                <a:latin typeface="Calibri" pitchFamily="34" charset="0"/>
                <a:ea typeface="Calibri" pitchFamily="34" charset="-122"/>
                <a:cs typeface="Calibri" pitchFamily="34" charset="-120"/>
              </a:rPr>
              <a:t>Kondisi fisik &amp; psikologis yang memengaruhi konsentrasi, kenyamanan, dan semangat siswa (Herman dkk., 2022).</a:t>
            </a:r>
            <a:endParaRPr lang="en-US" sz="1150" dirty="0"/>
          </a:p>
        </p:txBody>
      </p:sp>
      <p:sp>
        <p:nvSpPr>
          <p:cNvPr id="19" name="Shape 14"/>
          <p:cNvSpPr/>
          <p:nvPr/>
        </p:nvSpPr>
        <p:spPr>
          <a:xfrm>
            <a:off x="6217920" y="3977640"/>
            <a:ext cx="5212080" cy="2103120"/>
          </a:xfrm>
          <a:prstGeom prst="roundRect">
            <a:avLst>
              <a:gd name="adj" fmla="val 3478"/>
            </a:avLst>
          </a:prstGeom>
          <a:solidFill>
            <a:srgbClr val="FFFFFF"/>
          </a:solidFill>
          <a:ln w="12700">
            <a:solidFill>
              <a:srgbClr val="E4DCF2"/>
            </a:solidFill>
            <a:prstDash val="solid"/>
          </a:ln>
        </p:spPr>
      </p:sp>
      <p:sp>
        <p:nvSpPr>
          <p:cNvPr id="20" name="Shape 15"/>
          <p:cNvSpPr/>
          <p:nvPr/>
        </p:nvSpPr>
        <p:spPr>
          <a:xfrm>
            <a:off x="6473952" y="4233672"/>
            <a:ext cx="566928" cy="566928"/>
          </a:xfrm>
          <a:prstGeom prst="ellipse">
            <a:avLst/>
          </a:prstGeom>
          <a:solidFill>
            <a:srgbClr val="2D1B4E"/>
          </a:solidFill>
          <a:ln/>
        </p:spPr>
      </p:sp>
      <p:pic>
        <p:nvPicPr>
          <p:cNvPr id="21" name="Image 3" descr="/home/claude/kti-ppt/icon_brain.png">    </p:cNvPr>
          <p:cNvPicPr>
            <a:picLocks noChangeAspect="1"/>
          </p:cNvPicPr>
          <p:nvPr/>
        </p:nvPicPr>
        <p:blipFill>
          <a:blip r:embed="rId4"/>
          <a:stretch>
            <a:fillRect/>
          </a:stretch>
        </p:blipFill>
        <p:spPr>
          <a:xfrm>
            <a:off x="6621353" y="4381073"/>
            <a:ext cx="272125" cy="272125"/>
          </a:xfrm>
          <a:prstGeom prst="rect">
            <a:avLst/>
          </a:prstGeom>
        </p:spPr>
      </p:pic>
      <p:sp>
        <p:nvSpPr>
          <p:cNvPr id="22" name="Text 16"/>
          <p:cNvSpPr/>
          <p:nvPr/>
        </p:nvSpPr>
        <p:spPr>
          <a:xfrm>
            <a:off x="7223760" y="4206240"/>
            <a:ext cx="4023360" cy="411480"/>
          </a:xfrm>
          <a:prstGeom prst="rect">
            <a:avLst/>
          </a:prstGeom>
          <a:noFill/>
          <a:ln/>
        </p:spPr>
        <p:txBody>
          <a:bodyPr wrap="square" rtlCol="0" anchor="ctr"/>
          <a:lstStyle/>
          <a:p>
            <a:pPr indent="0" marL="0">
              <a:buNone/>
            </a:pPr>
            <a:r>
              <a:rPr lang="en-US" sz="1600" b="1" dirty="0">
                <a:solidFill>
                  <a:srgbClr val="2D1B4E"/>
                </a:solidFill>
                <a:latin typeface="Cambria" pitchFamily="34" charset="0"/>
                <a:ea typeface="Cambria" pitchFamily="34" charset="-122"/>
                <a:cs typeface="Cambria" pitchFamily="34" charset="-120"/>
              </a:rPr>
              <a:t>Belajar</a:t>
            </a:r>
            <a:endParaRPr lang="en-US" sz="1600" dirty="0"/>
          </a:p>
        </p:txBody>
      </p:sp>
      <p:sp>
        <p:nvSpPr>
          <p:cNvPr id="23" name="Text 17"/>
          <p:cNvSpPr/>
          <p:nvPr/>
        </p:nvSpPr>
        <p:spPr>
          <a:xfrm>
            <a:off x="6473952" y="4800600"/>
            <a:ext cx="4700016" cy="1143000"/>
          </a:xfrm>
          <a:prstGeom prst="rect">
            <a:avLst/>
          </a:prstGeom>
          <a:noFill/>
          <a:ln/>
        </p:spPr>
        <p:txBody>
          <a:bodyPr wrap="square" rtlCol="0" anchor="t"/>
          <a:lstStyle/>
          <a:p>
            <a:pPr indent="0" marL="0">
              <a:lnSpc>
                <a:spcPct val="115000"/>
              </a:lnSpc>
              <a:buNone/>
            </a:pPr>
            <a:r>
              <a:rPr lang="en-US" sz="1150" dirty="0">
                <a:solidFill>
                  <a:srgbClr val="6E5F94"/>
                </a:solidFill>
                <a:latin typeface="Calibri" pitchFamily="34" charset="0"/>
                <a:ea typeface="Calibri" pitchFamily="34" charset="-122"/>
                <a:cs typeface="Calibri" pitchFamily="34" charset="-120"/>
              </a:rPr>
              <a:t>Proses perubahan tingkah laku dari pengalaman, latihan &amp; interaksi — aspek kognitif, afektif, psikomotor (Parnawi, 2020).</a:t>
            </a:r>
            <a:endParaRPr lang="en-US" sz="1150" dirty="0"/>
          </a:p>
        </p:txBody>
      </p:sp>
      <p:sp>
        <p:nvSpPr>
          <p:cNvPr id="24" name="Text 1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1B4E"/>
        </a:solidFill>
      </p:bgPr>
    </p:bg>
    <p:spTree>
      <p:nvGrpSpPr>
        <p:cNvPr id="1" name=""/>
        <p:cNvGrpSpPr/>
        <p:nvPr/>
      </p:nvGrpSpPr>
      <p:grpSpPr>
        <a:xfrm>
          <a:off x="0" y="0"/>
          <a:ext cx="0" cy="0"/>
          <a:chOff x="0" y="0"/>
          <a:chExt cx="0" cy="0"/>
        </a:xfrm>
      </p:grpSpPr>
      <p:sp>
        <p:nvSpPr>
          <p:cNvPr id="2" name="Text 0"/>
          <p:cNvSpPr/>
          <p:nvPr/>
        </p:nvSpPr>
        <p:spPr>
          <a:xfrm rot="600000">
            <a:off x="11155680" y="502920"/>
            <a:ext cx="548640" cy="548640"/>
          </a:xfrm>
          <a:prstGeom prst="rect">
            <a:avLst/>
          </a:prstGeom>
          <a:noFill/>
          <a:ln/>
        </p:spPr>
        <p:txBody>
          <a:bodyPr wrap="square" rtlCol="0" anchor="ctr"/>
          <a:lstStyle/>
          <a:p>
            <a:pPr algn="ctr" indent="0" marL="0">
              <a:buNone/>
            </a:pPr>
            <a:r>
              <a:rPr lang="en-US" sz="2000" dirty="0">
                <a:solidFill>
                  <a:srgbClr val="9C8FC4"/>
                </a:solidFill>
                <a:latin typeface="Calibri" pitchFamily="34" charset="0"/>
                <a:ea typeface="Calibri" pitchFamily="34" charset="-122"/>
                <a:cs typeface="Calibri" pitchFamily="34" charset="-120"/>
              </a:rPr>
              <a:t>♪</a:t>
            </a:r>
            <a:endParaRPr lang="en-US" sz="2000" dirty="0"/>
          </a:p>
        </p:txBody>
      </p:sp>
      <p:sp>
        <p:nvSpPr>
          <p:cNvPr id="3" name="Text 1"/>
          <p:cNvSpPr/>
          <p:nvPr/>
        </p:nvSpPr>
        <p:spPr>
          <a:xfrm>
            <a:off x="640080" y="457200"/>
            <a:ext cx="73152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II · TINJAUAN PUSTAKA</a:t>
            </a:r>
            <a:endParaRPr lang="en-US" sz="1250" dirty="0"/>
          </a:p>
        </p:txBody>
      </p:sp>
      <p:sp>
        <p:nvSpPr>
          <p:cNvPr id="4" name="Text 2"/>
          <p:cNvSpPr/>
          <p:nvPr/>
        </p:nvSpPr>
        <p:spPr>
          <a:xfrm>
            <a:off x="640080" y="786384"/>
            <a:ext cx="7315200" cy="50292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Penelitian Terkait</a:t>
            </a:r>
            <a:endParaRPr lang="en-US" sz="2700" dirty="0"/>
          </a:p>
        </p:txBody>
      </p:sp>
      <p:sp>
        <p:nvSpPr>
          <p:cNvPr id="5" name="Shape 3"/>
          <p:cNvSpPr/>
          <p:nvPr/>
        </p:nvSpPr>
        <p:spPr>
          <a:xfrm>
            <a:off x="640080" y="1508760"/>
            <a:ext cx="457200" cy="457200"/>
          </a:xfrm>
          <a:prstGeom prst="ellipse">
            <a:avLst/>
          </a:prstGeom>
          <a:solidFill>
            <a:srgbClr val="E3B23C"/>
          </a:solidFill>
          <a:ln/>
        </p:spPr>
      </p:sp>
      <p:pic>
        <p:nvPicPr>
          <p:cNvPr id="6" name="Image 0" descr="/home/claude/kti-ppt/icon_quote.png">    </p:cNvPr>
          <p:cNvPicPr>
            <a:picLocks noChangeAspect="1"/>
          </p:cNvPicPr>
          <p:nvPr/>
        </p:nvPicPr>
        <p:blipFill>
          <a:blip r:embed="rId1"/>
          <a:stretch>
            <a:fillRect/>
          </a:stretch>
        </p:blipFill>
        <p:spPr>
          <a:xfrm>
            <a:off x="758952" y="1627632"/>
            <a:ext cx="219456" cy="219456"/>
          </a:xfrm>
          <a:prstGeom prst="rect">
            <a:avLst/>
          </a:prstGeom>
        </p:spPr>
      </p:pic>
      <p:sp>
        <p:nvSpPr>
          <p:cNvPr id="7" name="Text 4"/>
          <p:cNvSpPr/>
          <p:nvPr/>
        </p:nvSpPr>
        <p:spPr>
          <a:xfrm>
            <a:off x="1280160" y="1481328"/>
            <a:ext cx="3108960" cy="502920"/>
          </a:xfrm>
          <a:prstGeom prst="rect">
            <a:avLst/>
          </a:prstGeom>
          <a:noFill/>
          <a:ln/>
        </p:spPr>
        <p:txBody>
          <a:bodyPr wrap="square" rtlCol="0" anchor="t"/>
          <a:lstStyle/>
          <a:p>
            <a:pPr indent="0" marL="0">
              <a:buNone/>
            </a:pPr>
            <a:r>
              <a:rPr lang="en-US" sz="1250" b="1" dirty="0">
                <a:solidFill>
                  <a:srgbClr val="E3B23C"/>
                </a:solidFill>
                <a:latin typeface="Calibri" pitchFamily="34" charset="0"/>
                <a:ea typeface="Calibri" pitchFamily="34" charset="-122"/>
                <a:cs typeface="Calibri" pitchFamily="34" charset="-120"/>
              </a:rPr>
              <a:t>Maghfiroh &amp; Nurharini (2018)</a:t>
            </a:r>
            <a:endParaRPr lang="en-US" sz="1250" dirty="0"/>
          </a:p>
        </p:txBody>
      </p:sp>
      <p:sp>
        <p:nvSpPr>
          <p:cNvPr id="8" name="Text 5"/>
          <p:cNvSpPr/>
          <p:nvPr/>
        </p:nvSpPr>
        <p:spPr>
          <a:xfrm>
            <a:off x="4480560" y="1481328"/>
            <a:ext cx="7040880" cy="822960"/>
          </a:xfrm>
          <a:prstGeom prst="rect">
            <a:avLst/>
          </a:prstGeom>
          <a:noFill/>
          <a:ln/>
        </p:spPr>
        <p:txBody>
          <a:bodyPr wrap="square" rtlCol="0" anchor="t"/>
          <a:lstStyle/>
          <a:p>
            <a:pPr indent="0" marL="0">
              <a:lnSpc>
                <a:spcPct val="110000"/>
              </a:lnSpc>
              <a:buNone/>
            </a:pPr>
            <a:r>
              <a:rPr lang="en-US" sz="1200" dirty="0">
                <a:solidFill>
                  <a:srgbClr val="C9BBEA"/>
                </a:solidFill>
                <a:latin typeface="Calibri" pitchFamily="34" charset="0"/>
                <a:ea typeface="Calibri" pitchFamily="34" charset="-122"/>
                <a:cs typeface="Calibri" pitchFamily="34" charset="-120"/>
              </a:rPr>
              <a:t>Kegiatan musik membantu membentuk konsentrasi siswa melalui pembiasaan fokus dan mengikuti arahan.</a:t>
            </a:r>
            <a:endParaRPr lang="en-US" sz="1200" dirty="0"/>
          </a:p>
        </p:txBody>
      </p:sp>
      <p:sp>
        <p:nvSpPr>
          <p:cNvPr id="9" name="Shape 6"/>
          <p:cNvSpPr/>
          <p:nvPr/>
        </p:nvSpPr>
        <p:spPr>
          <a:xfrm>
            <a:off x="640080" y="2450592"/>
            <a:ext cx="457200" cy="457200"/>
          </a:xfrm>
          <a:prstGeom prst="ellipse">
            <a:avLst/>
          </a:prstGeom>
          <a:solidFill>
            <a:srgbClr val="E3B23C"/>
          </a:solidFill>
          <a:ln/>
        </p:spPr>
      </p:sp>
      <p:pic>
        <p:nvPicPr>
          <p:cNvPr id="10" name="Image 1" descr="/home/claude/kti-ppt/icon_quote.png">    </p:cNvPr>
          <p:cNvPicPr>
            <a:picLocks noChangeAspect="1"/>
          </p:cNvPicPr>
          <p:nvPr/>
        </p:nvPicPr>
        <p:blipFill>
          <a:blip r:embed="rId2"/>
          <a:stretch>
            <a:fillRect/>
          </a:stretch>
        </p:blipFill>
        <p:spPr>
          <a:xfrm>
            <a:off x="758952" y="2569464"/>
            <a:ext cx="219456" cy="219456"/>
          </a:xfrm>
          <a:prstGeom prst="rect">
            <a:avLst/>
          </a:prstGeom>
        </p:spPr>
      </p:pic>
      <p:sp>
        <p:nvSpPr>
          <p:cNvPr id="11" name="Text 7"/>
          <p:cNvSpPr/>
          <p:nvPr/>
        </p:nvSpPr>
        <p:spPr>
          <a:xfrm>
            <a:off x="1280160" y="2423160"/>
            <a:ext cx="3108960" cy="502920"/>
          </a:xfrm>
          <a:prstGeom prst="rect">
            <a:avLst/>
          </a:prstGeom>
          <a:noFill/>
          <a:ln/>
        </p:spPr>
        <p:txBody>
          <a:bodyPr wrap="square" rtlCol="0" anchor="t"/>
          <a:lstStyle/>
          <a:p>
            <a:pPr indent="0" marL="0">
              <a:buNone/>
            </a:pPr>
            <a:r>
              <a:rPr lang="en-US" sz="1250" b="1" dirty="0">
                <a:solidFill>
                  <a:srgbClr val="E3B23C"/>
                </a:solidFill>
                <a:latin typeface="Calibri" pitchFamily="34" charset="0"/>
                <a:ea typeface="Calibri" pitchFamily="34" charset="-122"/>
                <a:cs typeface="Calibri" pitchFamily="34" charset="-120"/>
              </a:rPr>
              <a:t>Khoirot dkk. (2024)</a:t>
            </a:r>
            <a:endParaRPr lang="en-US" sz="1250" dirty="0"/>
          </a:p>
        </p:txBody>
      </p:sp>
      <p:sp>
        <p:nvSpPr>
          <p:cNvPr id="12" name="Text 8"/>
          <p:cNvSpPr/>
          <p:nvPr/>
        </p:nvSpPr>
        <p:spPr>
          <a:xfrm>
            <a:off x="4480560" y="2423160"/>
            <a:ext cx="7040880" cy="822960"/>
          </a:xfrm>
          <a:prstGeom prst="rect">
            <a:avLst/>
          </a:prstGeom>
          <a:noFill/>
          <a:ln/>
        </p:spPr>
        <p:txBody>
          <a:bodyPr wrap="square" rtlCol="0" anchor="t"/>
          <a:lstStyle/>
          <a:p>
            <a:pPr indent="0" marL="0">
              <a:lnSpc>
                <a:spcPct val="110000"/>
              </a:lnSpc>
              <a:buNone/>
            </a:pPr>
            <a:r>
              <a:rPr lang="en-US" sz="1200" dirty="0">
                <a:solidFill>
                  <a:srgbClr val="C9BBEA"/>
                </a:solidFill>
                <a:latin typeface="Calibri" pitchFamily="34" charset="0"/>
                <a:ea typeface="Calibri" pitchFamily="34" charset="-122"/>
                <a:cs typeface="Calibri" pitchFamily="34" charset="-120"/>
              </a:rPr>
              <a:t>Musik instrumental berpengaruh nyata pada peningkatan perhatian belajar; musik tanpa lirik lebih efektif sebagai pengiring.</a:t>
            </a:r>
            <a:endParaRPr lang="en-US" sz="1200" dirty="0"/>
          </a:p>
        </p:txBody>
      </p:sp>
      <p:sp>
        <p:nvSpPr>
          <p:cNvPr id="13" name="Shape 9"/>
          <p:cNvSpPr/>
          <p:nvPr/>
        </p:nvSpPr>
        <p:spPr>
          <a:xfrm>
            <a:off x="640080" y="3392424"/>
            <a:ext cx="457200" cy="457200"/>
          </a:xfrm>
          <a:prstGeom prst="ellipse">
            <a:avLst/>
          </a:prstGeom>
          <a:solidFill>
            <a:srgbClr val="E3B23C"/>
          </a:solidFill>
          <a:ln/>
        </p:spPr>
      </p:sp>
      <p:pic>
        <p:nvPicPr>
          <p:cNvPr id="14" name="Image 2" descr="/home/claude/kti-ppt/icon_quote.png">    </p:cNvPr>
          <p:cNvPicPr>
            <a:picLocks noChangeAspect="1"/>
          </p:cNvPicPr>
          <p:nvPr/>
        </p:nvPicPr>
        <p:blipFill>
          <a:blip r:embed="rId3"/>
          <a:stretch>
            <a:fillRect/>
          </a:stretch>
        </p:blipFill>
        <p:spPr>
          <a:xfrm>
            <a:off x="758952" y="3511296"/>
            <a:ext cx="219456" cy="219456"/>
          </a:xfrm>
          <a:prstGeom prst="rect">
            <a:avLst/>
          </a:prstGeom>
        </p:spPr>
      </p:pic>
      <p:sp>
        <p:nvSpPr>
          <p:cNvPr id="15" name="Text 10"/>
          <p:cNvSpPr/>
          <p:nvPr/>
        </p:nvSpPr>
        <p:spPr>
          <a:xfrm>
            <a:off x="1280160" y="3364992"/>
            <a:ext cx="3108960" cy="502920"/>
          </a:xfrm>
          <a:prstGeom prst="rect">
            <a:avLst/>
          </a:prstGeom>
          <a:noFill/>
          <a:ln/>
        </p:spPr>
        <p:txBody>
          <a:bodyPr wrap="square" rtlCol="0" anchor="t"/>
          <a:lstStyle/>
          <a:p>
            <a:pPr indent="0" marL="0">
              <a:buNone/>
            </a:pPr>
            <a:r>
              <a:rPr lang="en-US" sz="1250" b="1" dirty="0">
                <a:solidFill>
                  <a:srgbClr val="E3B23C"/>
                </a:solidFill>
                <a:latin typeface="Calibri" pitchFamily="34" charset="0"/>
                <a:ea typeface="Calibri" pitchFamily="34" charset="-122"/>
                <a:cs typeface="Calibri" pitchFamily="34" charset="-120"/>
              </a:rPr>
              <a:t>Silaen dkk. (2023)</a:t>
            </a:r>
            <a:endParaRPr lang="en-US" sz="1250" dirty="0"/>
          </a:p>
        </p:txBody>
      </p:sp>
      <p:sp>
        <p:nvSpPr>
          <p:cNvPr id="16" name="Text 11"/>
          <p:cNvSpPr/>
          <p:nvPr/>
        </p:nvSpPr>
        <p:spPr>
          <a:xfrm>
            <a:off x="4480560" y="3364992"/>
            <a:ext cx="7040880" cy="822960"/>
          </a:xfrm>
          <a:prstGeom prst="rect">
            <a:avLst/>
          </a:prstGeom>
          <a:noFill/>
          <a:ln/>
        </p:spPr>
        <p:txBody>
          <a:bodyPr wrap="square" rtlCol="0" anchor="t"/>
          <a:lstStyle/>
          <a:p>
            <a:pPr indent="0" marL="0">
              <a:lnSpc>
                <a:spcPct val="110000"/>
              </a:lnSpc>
              <a:buNone/>
            </a:pPr>
            <a:r>
              <a:rPr lang="en-US" sz="1200" dirty="0">
                <a:solidFill>
                  <a:srgbClr val="C9BBEA"/>
                </a:solidFill>
                <a:latin typeface="Calibri" pitchFamily="34" charset="0"/>
                <a:ea typeface="Calibri" pitchFamily="34" charset="-122"/>
                <a:cs typeface="Calibri" pitchFamily="34" charset="-120"/>
              </a:rPr>
              <a:t>Musik jazz berpengaruh lebih signifikan terhadap konsentrasi belajar dibandingkan musik pop.</a:t>
            </a:r>
            <a:endParaRPr lang="en-US" sz="1200" dirty="0"/>
          </a:p>
        </p:txBody>
      </p:sp>
      <p:sp>
        <p:nvSpPr>
          <p:cNvPr id="17" name="Shape 12"/>
          <p:cNvSpPr/>
          <p:nvPr/>
        </p:nvSpPr>
        <p:spPr>
          <a:xfrm>
            <a:off x="640080" y="4334256"/>
            <a:ext cx="457200" cy="457200"/>
          </a:xfrm>
          <a:prstGeom prst="ellipse">
            <a:avLst/>
          </a:prstGeom>
          <a:solidFill>
            <a:srgbClr val="E3B23C"/>
          </a:solidFill>
          <a:ln/>
        </p:spPr>
      </p:sp>
      <p:pic>
        <p:nvPicPr>
          <p:cNvPr id="18" name="Image 3" descr="/home/claude/kti-ppt/icon_quote.png">    </p:cNvPr>
          <p:cNvPicPr>
            <a:picLocks noChangeAspect="1"/>
          </p:cNvPicPr>
          <p:nvPr/>
        </p:nvPicPr>
        <p:blipFill>
          <a:blip r:embed="rId4"/>
          <a:stretch>
            <a:fillRect/>
          </a:stretch>
        </p:blipFill>
        <p:spPr>
          <a:xfrm>
            <a:off x="758952" y="4453128"/>
            <a:ext cx="219456" cy="219456"/>
          </a:xfrm>
          <a:prstGeom prst="rect">
            <a:avLst/>
          </a:prstGeom>
        </p:spPr>
      </p:pic>
      <p:sp>
        <p:nvSpPr>
          <p:cNvPr id="19" name="Text 13"/>
          <p:cNvSpPr/>
          <p:nvPr/>
        </p:nvSpPr>
        <p:spPr>
          <a:xfrm>
            <a:off x="1280160" y="4306824"/>
            <a:ext cx="3108960" cy="502920"/>
          </a:xfrm>
          <a:prstGeom prst="rect">
            <a:avLst/>
          </a:prstGeom>
          <a:noFill/>
          <a:ln/>
        </p:spPr>
        <p:txBody>
          <a:bodyPr wrap="square" rtlCol="0" anchor="t"/>
          <a:lstStyle/>
          <a:p>
            <a:pPr indent="0" marL="0">
              <a:buNone/>
            </a:pPr>
            <a:r>
              <a:rPr lang="en-US" sz="1250" b="1" dirty="0">
                <a:solidFill>
                  <a:srgbClr val="E3B23C"/>
                </a:solidFill>
                <a:latin typeface="Calibri" pitchFamily="34" charset="0"/>
                <a:ea typeface="Calibri" pitchFamily="34" charset="-122"/>
                <a:cs typeface="Calibri" pitchFamily="34" charset="-120"/>
              </a:rPr>
              <a:t>Hidayat dkk. (2025)</a:t>
            </a:r>
            <a:endParaRPr lang="en-US" sz="1250" dirty="0"/>
          </a:p>
        </p:txBody>
      </p:sp>
      <p:sp>
        <p:nvSpPr>
          <p:cNvPr id="20" name="Text 14"/>
          <p:cNvSpPr/>
          <p:nvPr/>
        </p:nvSpPr>
        <p:spPr>
          <a:xfrm>
            <a:off x="4480560" y="4306824"/>
            <a:ext cx="7040880" cy="822960"/>
          </a:xfrm>
          <a:prstGeom prst="rect">
            <a:avLst/>
          </a:prstGeom>
          <a:noFill/>
          <a:ln/>
        </p:spPr>
        <p:txBody>
          <a:bodyPr wrap="square" rtlCol="0" anchor="t"/>
          <a:lstStyle/>
          <a:p>
            <a:pPr indent="0" marL="0">
              <a:lnSpc>
                <a:spcPct val="110000"/>
              </a:lnSpc>
              <a:buNone/>
            </a:pPr>
            <a:r>
              <a:rPr lang="en-US" sz="1200" dirty="0">
                <a:solidFill>
                  <a:srgbClr val="C9BBEA"/>
                </a:solidFill>
                <a:latin typeface="Calibri" pitchFamily="34" charset="0"/>
                <a:ea typeface="Calibri" pitchFamily="34" charset="-122"/>
                <a:cs typeface="Calibri" pitchFamily="34" charset="-120"/>
              </a:rPr>
              <a:t>Musik instrumental cenderung meningkatkan konsentrasi belajar siswa sekolah dasar.</a:t>
            </a:r>
            <a:endParaRPr lang="en-US" sz="1200" dirty="0"/>
          </a:p>
        </p:txBody>
      </p:sp>
      <p:sp>
        <p:nvSpPr>
          <p:cNvPr id="21" name="Shape 15"/>
          <p:cNvSpPr/>
          <p:nvPr/>
        </p:nvSpPr>
        <p:spPr>
          <a:xfrm>
            <a:off x="640080" y="5276088"/>
            <a:ext cx="457200" cy="457200"/>
          </a:xfrm>
          <a:prstGeom prst="ellipse">
            <a:avLst/>
          </a:prstGeom>
          <a:solidFill>
            <a:srgbClr val="E3B23C"/>
          </a:solidFill>
          <a:ln/>
        </p:spPr>
      </p:sp>
      <p:pic>
        <p:nvPicPr>
          <p:cNvPr id="22" name="Image 4" descr="/home/claude/kti-ppt/icon_quote.png">    </p:cNvPr>
          <p:cNvPicPr>
            <a:picLocks noChangeAspect="1"/>
          </p:cNvPicPr>
          <p:nvPr/>
        </p:nvPicPr>
        <p:blipFill>
          <a:blip r:embed="rId5"/>
          <a:stretch>
            <a:fillRect/>
          </a:stretch>
        </p:blipFill>
        <p:spPr>
          <a:xfrm>
            <a:off x="758952" y="5394960"/>
            <a:ext cx="219456" cy="219456"/>
          </a:xfrm>
          <a:prstGeom prst="rect">
            <a:avLst/>
          </a:prstGeom>
        </p:spPr>
      </p:pic>
      <p:sp>
        <p:nvSpPr>
          <p:cNvPr id="23" name="Text 16"/>
          <p:cNvSpPr/>
          <p:nvPr/>
        </p:nvSpPr>
        <p:spPr>
          <a:xfrm>
            <a:off x="1280160" y="5248656"/>
            <a:ext cx="3108960" cy="502920"/>
          </a:xfrm>
          <a:prstGeom prst="rect">
            <a:avLst/>
          </a:prstGeom>
          <a:noFill/>
          <a:ln/>
        </p:spPr>
        <p:txBody>
          <a:bodyPr wrap="square" rtlCol="0" anchor="t"/>
          <a:lstStyle/>
          <a:p>
            <a:pPr indent="0" marL="0">
              <a:buNone/>
            </a:pPr>
            <a:r>
              <a:rPr lang="en-US" sz="1250" b="1" dirty="0">
                <a:solidFill>
                  <a:srgbClr val="E3B23C"/>
                </a:solidFill>
                <a:latin typeface="Calibri" pitchFamily="34" charset="0"/>
                <a:ea typeface="Calibri" pitchFamily="34" charset="-122"/>
                <a:cs typeface="Calibri" pitchFamily="34" charset="-120"/>
              </a:rPr>
              <a:t>Kartini &amp; Sa'adah (2022)</a:t>
            </a:r>
            <a:endParaRPr lang="en-US" sz="1250" dirty="0"/>
          </a:p>
        </p:txBody>
      </p:sp>
      <p:sp>
        <p:nvSpPr>
          <p:cNvPr id="24" name="Text 17"/>
          <p:cNvSpPr/>
          <p:nvPr/>
        </p:nvSpPr>
        <p:spPr>
          <a:xfrm>
            <a:off x="4480560" y="5248656"/>
            <a:ext cx="7040880" cy="822960"/>
          </a:xfrm>
          <a:prstGeom prst="rect">
            <a:avLst/>
          </a:prstGeom>
          <a:noFill/>
          <a:ln/>
        </p:spPr>
        <p:txBody>
          <a:bodyPr wrap="square" rtlCol="0" anchor="t"/>
          <a:lstStyle/>
          <a:p>
            <a:pPr indent="0" marL="0">
              <a:lnSpc>
                <a:spcPct val="110000"/>
              </a:lnSpc>
              <a:buNone/>
            </a:pPr>
            <a:r>
              <a:rPr lang="en-US" sz="1200" dirty="0">
                <a:solidFill>
                  <a:srgbClr val="C9BBEA"/>
                </a:solidFill>
                <a:latin typeface="Calibri" pitchFamily="34" charset="0"/>
                <a:ea typeface="Calibri" pitchFamily="34" charset="-122"/>
                <a:cs typeface="Calibri" pitchFamily="34" charset="-120"/>
              </a:rPr>
              <a:t>Musik religi memperbaiki suasana hati mahasiswa sehingga lebih mudah berkonsentrasi.</a:t>
            </a:r>
            <a:endParaRPr lang="en-US" sz="1200" dirty="0"/>
          </a:p>
        </p:txBody>
      </p:sp>
      <p:sp>
        <p:nvSpPr>
          <p:cNvPr id="25" name="Text 1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B8A9D9"/>
                </a:solidFill>
                <a:latin typeface="Calibri" pitchFamily="34" charset="0"/>
                <a:ea typeface="Calibri" pitchFamily="34" charset="-122"/>
                <a:cs typeface="Calibri" pitchFamily="34" charset="-120"/>
              </a:rPr>
              <a:t>Peran Musik Dalam Menciptakan Suasana Belajar</a:t>
            </a:r>
            <a:endParaRPr lang="en-US" sz="900" dirty="0"/>
          </a:p>
        </p:txBody>
      </p:sp>
      <p:sp>
        <p:nvSpPr>
          <p:cNvPr id="26"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B8A9D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II · TINJAUAN PUSTAKA</a:t>
            </a:r>
            <a:endParaRPr lang="en-US" sz="1250" dirty="0"/>
          </a:p>
        </p:txBody>
      </p:sp>
      <p:sp>
        <p:nvSpPr>
          <p:cNvPr id="3" name="Text 1"/>
          <p:cNvSpPr/>
          <p:nvPr/>
        </p:nvSpPr>
        <p:spPr>
          <a:xfrm>
            <a:off x="640080" y="786384"/>
            <a:ext cx="7315200" cy="502920"/>
          </a:xfrm>
          <a:prstGeom prst="rect">
            <a:avLst/>
          </a:prstGeom>
          <a:noFill/>
          <a:ln/>
        </p:spPr>
        <p:txBody>
          <a:bodyPr wrap="square" rtlCol="0" anchor="ctr"/>
          <a:lstStyle/>
          <a:p>
            <a:pPr indent="0" marL="0">
              <a:buNone/>
            </a:pPr>
            <a:r>
              <a:rPr lang="en-US" sz="2700" b="1" dirty="0">
                <a:solidFill>
                  <a:srgbClr val="2D1B4E"/>
                </a:solidFill>
                <a:latin typeface="Cambria" pitchFamily="34" charset="0"/>
                <a:ea typeface="Cambria" pitchFamily="34" charset="-122"/>
                <a:cs typeface="Cambria" pitchFamily="34" charset="-120"/>
              </a:rPr>
              <a:t>Kerangka Berpikir</a:t>
            </a:r>
            <a:endParaRPr lang="en-US" sz="2700" dirty="0"/>
          </a:p>
        </p:txBody>
      </p:sp>
      <p:sp>
        <p:nvSpPr>
          <p:cNvPr id="4" name="Shape 2"/>
          <p:cNvSpPr/>
          <p:nvPr/>
        </p:nvSpPr>
        <p:spPr>
          <a:xfrm>
            <a:off x="777240" y="2377440"/>
            <a:ext cx="2331720" cy="1554480"/>
          </a:xfrm>
          <a:prstGeom prst="roundRect">
            <a:avLst>
              <a:gd name="adj" fmla="val 5882"/>
            </a:avLst>
          </a:prstGeom>
          <a:solidFill>
            <a:srgbClr val="FFFFFF"/>
          </a:solidFill>
          <a:ln w="12700">
            <a:solidFill>
              <a:srgbClr val="E4DCF2"/>
            </a:solidFill>
            <a:prstDash val="solid"/>
          </a:ln>
        </p:spPr>
      </p:sp>
      <p:sp>
        <p:nvSpPr>
          <p:cNvPr id="5" name="Shape 3"/>
          <p:cNvSpPr/>
          <p:nvPr/>
        </p:nvSpPr>
        <p:spPr>
          <a:xfrm>
            <a:off x="1623060" y="2560320"/>
            <a:ext cx="640080" cy="640080"/>
          </a:xfrm>
          <a:prstGeom prst="ellipse">
            <a:avLst/>
          </a:prstGeom>
          <a:solidFill>
            <a:srgbClr val="2D1B4E"/>
          </a:solidFill>
          <a:ln/>
        </p:spPr>
      </p:sp>
      <p:pic>
        <p:nvPicPr>
          <p:cNvPr id="6" name="Image 0" descr="/home/claude/kti-ppt/icon_music.png">    </p:cNvPr>
          <p:cNvPicPr>
            <a:picLocks noChangeAspect="1"/>
          </p:cNvPicPr>
          <p:nvPr/>
        </p:nvPicPr>
        <p:blipFill>
          <a:blip r:embed="rId1"/>
          <a:stretch>
            <a:fillRect/>
          </a:stretch>
        </p:blipFill>
        <p:spPr>
          <a:xfrm>
            <a:off x="1789481" y="2726741"/>
            <a:ext cx="307238" cy="307238"/>
          </a:xfrm>
          <a:prstGeom prst="rect">
            <a:avLst/>
          </a:prstGeom>
        </p:spPr>
      </p:pic>
      <p:sp>
        <p:nvSpPr>
          <p:cNvPr id="7" name="Text 4"/>
          <p:cNvSpPr/>
          <p:nvPr/>
        </p:nvSpPr>
        <p:spPr>
          <a:xfrm>
            <a:off x="777240" y="3291840"/>
            <a:ext cx="2331720" cy="548640"/>
          </a:xfrm>
          <a:prstGeom prst="rect">
            <a:avLst/>
          </a:prstGeom>
          <a:noFill/>
          <a:ln/>
        </p:spPr>
        <p:txBody>
          <a:bodyPr wrap="square" rtlCol="0" anchor="t"/>
          <a:lstStyle/>
          <a:p>
            <a:pPr algn="ctr" indent="0" marL="0">
              <a:buNone/>
            </a:pPr>
            <a:r>
              <a:rPr lang="en-US" sz="1200" b="1" dirty="0">
                <a:solidFill>
                  <a:srgbClr val="2D1B4E"/>
                </a:solidFill>
                <a:latin typeface="Calibri" pitchFamily="34" charset="0"/>
                <a:ea typeface="Calibri" pitchFamily="34" charset="-122"/>
                <a:cs typeface="Calibri" pitchFamily="34" charset="-120"/>
              </a:rPr>
              <a:t>Musik</a:t>
            </a:r>
            <a:endParaRPr lang="en-US" sz="1200" dirty="0"/>
          </a:p>
        </p:txBody>
      </p:sp>
      <p:sp>
        <p:nvSpPr>
          <p:cNvPr id="8" name="Text 5"/>
          <p:cNvSpPr/>
          <p:nvPr/>
        </p:nvSpPr>
        <p:spPr>
          <a:xfrm>
            <a:off x="3127248" y="2834640"/>
            <a:ext cx="374904" cy="640080"/>
          </a:xfrm>
          <a:prstGeom prst="rect">
            <a:avLst/>
          </a:prstGeom>
          <a:noFill/>
          <a:ln/>
        </p:spPr>
        <p:txBody>
          <a:bodyPr wrap="square" rtlCol="0" anchor="ctr"/>
          <a:lstStyle/>
          <a:p>
            <a:pPr algn="ctr" indent="0" marL="0">
              <a:buNone/>
            </a:pPr>
            <a:r>
              <a:rPr lang="en-US" sz="2200" b="1" dirty="0">
                <a:solidFill>
                  <a:srgbClr val="9C8FC4"/>
                </a:solidFill>
                <a:latin typeface="Calibri" pitchFamily="34" charset="0"/>
                <a:ea typeface="Calibri" pitchFamily="34" charset="-122"/>
                <a:cs typeface="Calibri" pitchFamily="34" charset="-120"/>
              </a:rPr>
              <a:t>→</a:t>
            </a:r>
            <a:endParaRPr lang="en-US" sz="2200" dirty="0"/>
          </a:p>
        </p:txBody>
      </p:sp>
      <p:sp>
        <p:nvSpPr>
          <p:cNvPr id="9" name="Shape 6"/>
          <p:cNvSpPr/>
          <p:nvPr/>
        </p:nvSpPr>
        <p:spPr>
          <a:xfrm>
            <a:off x="3520440" y="2377440"/>
            <a:ext cx="2331720" cy="1554480"/>
          </a:xfrm>
          <a:prstGeom prst="roundRect">
            <a:avLst>
              <a:gd name="adj" fmla="val 5882"/>
            </a:avLst>
          </a:prstGeom>
          <a:solidFill>
            <a:srgbClr val="FFFFFF"/>
          </a:solidFill>
          <a:ln w="12700">
            <a:solidFill>
              <a:srgbClr val="E4DCF2"/>
            </a:solidFill>
            <a:prstDash val="solid"/>
          </a:ln>
        </p:spPr>
      </p:sp>
      <p:sp>
        <p:nvSpPr>
          <p:cNvPr id="10" name="Shape 7"/>
          <p:cNvSpPr/>
          <p:nvPr/>
        </p:nvSpPr>
        <p:spPr>
          <a:xfrm>
            <a:off x="4366260" y="2560320"/>
            <a:ext cx="640080" cy="640080"/>
          </a:xfrm>
          <a:prstGeom prst="ellipse">
            <a:avLst/>
          </a:prstGeom>
          <a:solidFill>
            <a:srgbClr val="2D1B4E"/>
          </a:solidFill>
          <a:ln/>
        </p:spPr>
      </p:sp>
      <p:pic>
        <p:nvPicPr>
          <p:cNvPr id="11" name="Image 1" descr="/home/claude/kti-ppt/icon_wave.png">    </p:cNvPr>
          <p:cNvPicPr>
            <a:picLocks noChangeAspect="1"/>
          </p:cNvPicPr>
          <p:nvPr/>
        </p:nvPicPr>
        <p:blipFill>
          <a:blip r:embed="rId2"/>
          <a:stretch>
            <a:fillRect/>
          </a:stretch>
        </p:blipFill>
        <p:spPr>
          <a:xfrm>
            <a:off x="4532681" y="2726741"/>
            <a:ext cx="307238" cy="307238"/>
          </a:xfrm>
          <a:prstGeom prst="rect">
            <a:avLst/>
          </a:prstGeom>
        </p:spPr>
      </p:pic>
      <p:sp>
        <p:nvSpPr>
          <p:cNvPr id="12" name="Text 8"/>
          <p:cNvSpPr/>
          <p:nvPr/>
        </p:nvSpPr>
        <p:spPr>
          <a:xfrm>
            <a:off x="3520440" y="3291840"/>
            <a:ext cx="2331720" cy="548640"/>
          </a:xfrm>
          <a:prstGeom prst="rect">
            <a:avLst/>
          </a:prstGeom>
          <a:noFill/>
          <a:ln/>
        </p:spPr>
        <p:txBody>
          <a:bodyPr wrap="square" rtlCol="0" anchor="t"/>
          <a:lstStyle/>
          <a:p>
            <a:pPr algn="ctr" indent="0" marL="0">
              <a:buNone/>
            </a:pPr>
            <a:r>
              <a:rPr lang="en-US" sz="1200" b="1" dirty="0">
                <a:solidFill>
                  <a:srgbClr val="2D1B4E"/>
                </a:solidFill>
                <a:latin typeface="Calibri" pitchFamily="34" charset="0"/>
                <a:ea typeface="Calibri" pitchFamily="34" charset="-122"/>
                <a:cs typeface="Calibri" pitchFamily="34" charset="-120"/>
              </a:rPr>
              <a:t>Tempo &amp; Lirik</a:t>
            </a:r>
            <a:endParaRPr lang="en-US" sz="1200" dirty="0"/>
          </a:p>
          <a:p>
            <a:pPr algn="ctr" indent="0" marL="0">
              <a:buNone/>
            </a:pPr>
            <a:r>
              <a:rPr lang="en-US" sz="1200" b="1" dirty="0">
                <a:solidFill>
                  <a:srgbClr val="2D1B4E"/>
                </a:solidFill>
                <a:latin typeface="Calibri" pitchFamily="34" charset="0"/>
                <a:ea typeface="Calibri" pitchFamily="34" charset="-122"/>
                <a:cs typeface="Calibri" pitchFamily="34" charset="-120"/>
              </a:rPr>
              <a:t>Minim</a:t>
            </a:r>
            <a:endParaRPr lang="en-US" sz="1200" dirty="0"/>
          </a:p>
        </p:txBody>
      </p:sp>
      <p:sp>
        <p:nvSpPr>
          <p:cNvPr id="13" name="Text 9"/>
          <p:cNvSpPr/>
          <p:nvPr/>
        </p:nvSpPr>
        <p:spPr>
          <a:xfrm>
            <a:off x="5870448" y="2834640"/>
            <a:ext cx="374904" cy="640080"/>
          </a:xfrm>
          <a:prstGeom prst="rect">
            <a:avLst/>
          </a:prstGeom>
          <a:noFill/>
          <a:ln/>
        </p:spPr>
        <p:txBody>
          <a:bodyPr wrap="square" rtlCol="0" anchor="ctr"/>
          <a:lstStyle/>
          <a:p>
            <a:pPr algn="ctr" indent="0" marL="0">
              <a:buNone/>
            </a:pPr>
            <a:r>
              <a:rPr lang="en-US" sz="2200" b="1" dirty="0">
                <a:solidFill>
                  <a:srgbClr val="9C8FC4"/>
                </a:solidFill>
                <a:latin typeface="Calibri" pitchFamily="34" charset="0"/>
                <a:ea typeface="Calibri" pitchFamily="34" charset="-122"/>
                <a:cs typeface="Calibri" pitchFamily="34" charset="-120"/>
              </a:rPr>
              <a:t>→</a:t>
            </a:r>
            <a:endParaRPr lang="en-US" sz="2200" dirty="0"/>
          </a:p>
        </p:txBody>
      </p:sp>
      <p:sp>
        <p:nvSpPr>
          <p:cNvPr id="14" name="Shape 10"/>
          <p:cNvSpPr/>
          <p:nvPr/>
        </p:nvSpPr>
        <p:spPr>
          <a:xfrm>
            <a:off x="6263640" y="2377440"/>
            <a:ext cx="2331720" cy="1554480"/>
          </a:xfrm>
          <a:prstGeom prst="roundRect">
            <a:avLst>
              <a:gd name="adj" fmla="val 5882"/>
            </a:avLst>
          </a:prstGeom>
          <a:solidFill>
            <a:srgbClr val="FFFFFF"/>
          </a:solidFill>
          <a:ln w="12700">
            <a:solidFill>
              <a:srgbClr val="E4DCF2"/>
            </a:solidFill>
            <a:prstDash val="solid"/>
          </a:ln>
        </p:spPr>
      </p:sp>
      <p:sp>
        <p:nvSpPr>
          <p:cNvPr id="15" name="Shape 11"/>
          <p:cNvSpPr/>
          <p:nvPr/>
        </p:nvSpPr>
        <p:spPr>
          <a:xfrm>
            <a:off x="7109460" y="2560320"/>
            <a:ext cx="640080" cy="640080"/>
          </a:xfrm>
          <a:prstGeom prst="ellipse">
            <a:avLst/>
          </a:prstGeom>
          <a:solidFill>
            <a:srgbClr val="2D1B4E"/>
          </a:solidFill>
          <a:ln/>
        </p:spPr>
      </p:sp>
      <p:pic>
        <p:nvPicPr>
          <p:cNvPr id="16" name="Image 2" descr="/home/claude/kti-ppt/icon_heart.png">    </p:cNvPr>
          <p:cNvPicPr>
            <a:picLocks noChangeAspect="1"/>
          </p:cNvPicPr>
          <p:nvPr/>
        </p:nvPicPr>
        <p:blipFill>
          <a:blip r:embed="rId3"/>
          <a:stretch>
            <a:fillRect/>
          </a:stretch>
        </p:blipFill>
        <p:spPr>
          <a:xfrm>
            <a:off x="7275881" y="2726741"/>
            <a:ext cx="307238" cy="307238"/>
          </a:xfrm>
          <a:prstGeom prst="rect">
            <a:avLst/>
          </a:prstGeom>
        </p:spPr>
      </p:pic>
      <p:sp>
        <p:nvSpPr>
          <p:cNvPr id="17" name="Text 12"/>
          <p:cNvSpPr/>
          <p:nvPr/>
        </p:nvSpPr>
        <p:spPr>
          <a:xfrm>
            <a:off x="6263640" y="3291840"/>
            <a:ext cx="2331720" cy="548640"/>
          </a:xfrm>
          <a:prstGeom prst="rect">
            <a:avLst/>
          </a:prstGeom>
          <a:noFill/>
          <a:ln/>
        </p:spPr>
        <p:txBody>
          <a:bodyPr wrap="square" rtlCol="0" anchor="t"/>
          <a:lstStyle/>
          <a:p>
            <a:pPr algn="ctr" indent="0" marL="0">
              <a:buNone/>
            </a:pPr>
            <a:r>
              <a:rPr lang="en-US" sz="1200" b="1" dirty="0">
                <a:solidFill>
                  <a:srgbClr val="2D1B4E"/>
                </a:solidFill>
                <a:latin typeface="Calibri" pitchFamily="34" charset="0"/>
                <a:ea typeface="Calibri" pitchFamily="34" charset="-122"/>
                <a:cs typeface="Calibri" pitchFamily="34" charset="-120"/>
              </a:rPr>
              <a:t>Kondisi Emosional</a:t>
            </a:r>
            <a:endParaRPr lang="en-US" sz="1200" dirty="0"/>
          </a:p>
          <a:p>
            <a:pPr algn="ctr" indent="0" marL="0">
              <a:buNone/>
            </a:pPr>
            <a:r>
              <a:rPr lang="en-US" sz="1200" b="1" dirty="0">
                <a:solidFill>
                  <a:srgbClr val="2D1B4E"/>
                </a:solidFill>
                <a:latin typeface="Calibri" pitchFamily="34" charset="0"/>
                <a:ea typeface="Calibri" pitchFamily="34" charset="-122"/>
                <a:cs typeface="Calibri" pitchFamily="34" charset="-120"/>
              </a:rPr>
              <a:t>Tenang</a:t>
            </a:r>
            <a:endParaRPr lang="en-US" sz="1200" dirty="0"/>
          </a:p>
        </p:txBody>
      </p:sp>
      <p:sp>
        <p:nvSpPr>
          <p:cNvPr id="18" name="Text 13"/>
          <p:cNvSpPr/>
          <p:nvPr/>
        </p:nvSpPr>
        <p:spPr>
          <a:xfrm>
            <a:off x="8613648" y="2834640"/>
            <a:ext cx="374904" cy="640080"/>
          </a:xfrm>
          <a:prstGeom prst="rect">
            <a:avLst/>
          </a:prstGeom>
          <a:noFill/>
          <a:ln/>
        </p:spPr>
        <p:txBody>
          <a:bodyPr wrap="square" rtlCol="0" anchor="ctr"/>
          <a:lstStyle/>
          <a:p>
            <a:pPr algn="ctr" indent="0" marL="0">
              <a:buNone/>
            </a:pPr>
            <a:r>
              <a:rPr lang="en-US" sz="2200" b="1" dirty="0">
                <a:solidFill>
                  <a:srgbClr val="9C8FC4"/>
                </a:solidFill>
                <a:latin typeface="Calibri" pitchFamily="34" charset="0"/>
                <a:ea typeface="Calibri" pitchFamily="34" charset="-122"/>
                <a:cs typeface="Calibri" pitchFamily="34" charset="-120"/>
              </a:rPr>
              <a:t>→</a:t>
            </a:r>
            <a:endParaRPr lang="en-US" sz="2200" dirty="0"/>
          </a:p>
        </p:txBody>
      </p:sp>
      <p:sp>
        <p:nvSpPr>
          <p:cNvPr id="19" name="Shape 14"/>
          <p:cNvSpPr/>
          <p:nvPr/>
        </p:nvSpPr>
        <p:spPr>
          <a:xfrm>
            <a:off x="9006840" y="2377440"/>
            <a:ext cx="2331720" cy="1554480"/>
          </a:xfrm>
          <a:prstGeom prst="roundRect">
            <a:avLst>
              <a:gd name="adj" fmla="val 5882"/>
            </a:avLst>
          </a:prstGeom>
          <a:solidFill>
            <a:srgbClr val="2D1B4E"/>
          </a:solidFill>
          <a:ln w="12700">
            <a:solidFill>
              <a:srgbClr val="E4DCF2"/>
            </a:solidFill>
            <a:prstDash val="solid"/>
          </a:ln>
        </p:spPr>
      </p:sp>
      <p:sp>
        <p:nvSpPr>
          <p:cNvPr id="20" name="Shape 15"/>
          <p:cNvSpPr/>
          <p:nvPr/>
        </p:nvSpPr>
        <p:spPr>
          <a:xfrm>
            <a:off x="9852660" y="2560320"/>
            <a:ext cx="640080" cy="640080"/>
          </a:xfrm>
          <a:prstGeom prst="ellipse">
            <a:avLst/>
          </a:prstGeom>
          <a:solidFill>
            <a:srgbClr val="E3B23C"/>
          </a:solidFill>
          <a:ln/>
        </p:spPr>
      </p:sp>
      <p:pic>
        <p:nvPicPr>
          <p:cNvPr id="21" name="Image 3" descr="/home/claude/kti-ppt/icon_check.png">    </p:cNvPr>
          <p:cNvPicPr>
            <a:picLocks noChangeAspect="1"/>
          </p:cNvPicPr>
          <p:nvPr/>
        </p:nvPicPr>
        <p:blipFill>
          <a:blip r:embed="rId4"/>
          <a:stretch>
            <a:fillRect/>
          </a:stretch>
        </p:blipFill>
        <p:spPr>
          <a:xfrm>
            <a:off x="10019081" y="2726741"/>
            <a:ext cx="307238" cy="307238"/>
          </a:xfrm>
          <a:prstGeom prst="rect">
            <a:avLst/>
          </a:prstGeom>
        </p:spPr>
      </p:pic>
      <p:sp>
        <p:nvSpPr>
          <p:cNvPr id="22" name="Text 16"/>
          <p:cNvSpPr/>
          <p:nvPr/>
        </p:nvSpPr>
        <p:spPr>
          <a:xfrm>
            <a:off x="9006840" y="3291840"/>
            <a:ext cx="2331720" cy="548640"/>
          </a:xfrm>
          <a:prstGeom prst="rect">
            <a:avLst/>
          </a:prstGeom>
          <a:noFill/>
          <a:ln/>
        </p:spPr>
        <p:txBody>
          <a:bodyPr wrap="square"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Suasana Belajar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Optimal</a:t>
            </a:r>
            <a:endParaRPr lang="en-US" sz="1200" dirty="0"/>
          </a:p>
        </p:txBody>
      </p:sp>
      <p:sp>
        <p:nvSpPr>
          <p:cNvPr id="23" name="Text 17"/>
          <p:cNvSpPr/>
          <p:nvPr/>
        </p:nvSpPr>
        <p:spPr>
          <a:xfrm>
            <a:off x="777240" y="4343400"/>
            <a:ext cx="10607040" cy="1371600"/>
          </a:xfrm>
          <a:prstGeom prst="rect">
            <a:avLst/>
          </a:prstGeom>
          <a:noFill/>
          <a:ln/>
        </p:spPr>
        <p:txBody>
          <a:bodyPr wrap="square" rtlCol="0" anchor="t"/>
          <a:lstStyle/>
          <a:p>
            <a:pPr algn="ctr" indent="0" marL="0">
              <a:lnSpc>
                <a:spcPct val="125000"/>
              </a:lnSpc>
              <a:buNone/>
            </a:pPr>
            <a:r>
              <a:rPr lang="en-US" sz="1300" i="1" dirty="0">
                <a:solidFill>
                  <a:srgbClr val="6E5F94"/>
                </a:solidFill>
                <a:latin typeface="Calibri" pitchFamily="34" charset="0"/>
                <a:ea typeface="Calibri" pitchFamily="34" charset="-122"/>
                <a:cs typeface="Calibri" pitchFamily="34" charset="-120"/>
              </a:rPr>
              <a:t>Unsur musik (nada, irama, melodi, harmoni, tempo, dinamika) memengaruhi tingkat arousal pendengar. Musik bertempo lambat &amp; minim lirik menciptakan kondisi emosional tenang, yang membentuk suasana belajar nyaman — mendukung konsentrasi, kenyamanan, dan semangat belajar siswa.</a:t>
            </a:r>
            <a:endParaRPr lang="en-US" sz="1300" dirty="0"/>
          </a:p>
        </p:txBody>
      </p:sp>
      <p:sp>
        <p:nvSpPr>
          <p:cNvPr id="24" name="Text 1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5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III · PEMBAHASAN</a:t>
            </a:r>
            <a:endParaRPr lang="en-US" sz="1250" dirty="0"/>
          </a:p>
        </p:txBody>
      </p:sp>
      <p:sp>
        <p:nvSpPr>
          <p:cNvPr id="3" name="Text 1"/>
          <p:cNvSpPr/>
          <p:nvPr/>
        </p:nvSpPr>
        <p:spPr>
          <a:xfrm>
            <a:off x="640080" y="786384"/>
            <a:ext cx="7315200" cy="502920"/>
          </a:xfrm>
          <a:prstGeom prst="rect">
            <a:avLst/>
          </a:prstGeom>
          <a:noFill/>
          <a:ln/>
        </p:spPr>
        <p:txBody>
          <a:bodyPr wrap="square" rtlCol="0" anchor="ctr"/>
          <a:lstStyle/>
          <a:p>
            <a:pPr indent="0" marL="0">
              <a:buNone/>
            </a:pPr>
            <a:r>
              <a:rPr lang="en-US" sz="2700" b="1" dirty="0">
                <a:solidFill>
                  <a:srgbClr val="2D1B4E"/>
                </a:solidFill>
                <a:latin typeface="Cambria" pitchFamily="34" charset="0"/>
                <a:ea typeface="Cambria" pitchFamily="34" charset="-122"/>
                <a:cs typeface="Cambria" pitchFamily="34" charset="-120"/>
              </a:rPr>
              <a:t>Metode / Pendekatan</a:t>
            </a:r>
            <a:endParaRPr lang="en-US" sz="2700" dirty="0"/>
          </a:p>
        </p:txBody>
      </p:sp>
      <p:sp>
        <p:nvSpPr>
          <p:cNvPr id="4" name="Shape 2"/>
          <p:cNvSpPr/>
          <p:nvPr/>
        </p:nvSpPr>
        <p:spPr>
          <a:xfrm>
            <a:off x="640080" y="1828800"/>
            <a:ext cx="10881360" cy="3566160"/>
          </a:xfrm>
          <a:prstGeom prst="roundRect">
            <a:avLst>
              <a:gd name="adj" fmla="val 2051"/>
            </a:avLst>
          </a:prstGeom>
          <a:solidFill>
            <a:srgbClr val="FFFFFF"/>
          </a:solidFill>
          <a:ln w="12700">
            <a:solidFill>
              <a:srgbClr val="E4DCF2"/>
            </a:solidFill>
            <a:prstDash val="solid"/>
          </a:ln>
        </p:spPr>
      </p:sp>
      <p:sp>
        <p:nvSpPr>
          <p:cNvPr id="5" name="Shape 3"/>
          <p:cNvSpPr/>
          <p:nvPr/>
        </p:nvSpPr>
        <p:spPr>
          <a:xfrm>
            <a:off x="1005840" y="2194560"/>
            <a:ext cx="822960" cy="822960"/>
          </a:xfrm>
          <a:prstGeom prst="ellipse">
            <a:avLst/>
          </a:prstGeom>
          <a:solidFill>
            <a:srgbClr val="2D1B4E"/>
          </a:solidFill>
          <a:ln/>
        </p:spPr>
      </p:sp>
      <p:pic>
        <p:nvPicPr>
          <p:cNvPr id="6" name="Image 0" descr="/home/claude/kti-ppt/icon_flask.png">    </p:cNvPr>
          <p:cNvPicPr>
            <a:picLocks noChangeAspect="1"/>
          </p:cNvPicPr>
          <p:nvPr/>
        </p:nvPicPr>
        <p:blipFill>
          <a:blip r:embed="rId1"/>
          <a:stretch>
            <a:fillRect/>
          </a:stretch>
        </p:blipFill>
        <p:spPr>
          <a:xfrm>
            <a:off x="1219810" y="2408530"/>
            <a:ext cx="395021" cy="395021"/>
          </a:xfrm>
          <a:prstGeom prst="rect">
            <a:avLst/>
          </a:prstGeom>
        </p:spPr>
      </p:pic>
      <p:sp>
        <p:nvSpPr>
          <p:cNvPr id="7" name="Text 4"/>
          <p:cNvSpPr/>
          <p:nvPr/>
        </p:nvSpPr>
        <p:spPr>
          <a:xfrm>
            <a:off x="2103120" y="2148840"/>
            <a:ext cx="9052560" cy="3017520"/>
          </a:xfrm>
          <a:prstGeom prst="rect">
            <a:avLst/>
          </a:prstGeom>
          <a:noFill/>
          <a:ln/>
        </p:spPr>
        <p:txBody>
          <a:bodyPr wrap="square" rtlCol="0" anchor="t"/>
          <a:lstStyle/>
          <a:p>
            <a:pPr indent="0" marL="0">
              <a:buNone/>
            </a:pPr>
            <a:r>
              <a:rPr lang="en-US" sz="1800" b="1" dirty="0">
                <a:solidFill>
                  <a:srgbClr val="2D1B4E"/>
                </a:solidFill>
                <a:latin typeface="Cambria" pitchFamily="34" charset="0"/>
                <a:ea typeface="Cambria" pitchFamily="34" charset="-122"/>
                <a:cs typeface="Cambria" pitchFamily="34" charset="-120"/>
              </a:rPr>
              <a:t>Studi Literatur
</a:t>
            </a:r>
            <a:endParaRPr lang="en-US" sz="1800" dirty="0"/>
          </a:p>
          <a:p>
            <a:pPr indent="0" marL="0">
              <a:lnSpc>
                <a:spcPct val="130000"/>
              </a:lnSpc>
              <a:buNone/>
            </a:pPr>
            <a:r>
              <a:rPr lang="en-US" sz="1400" dirty="0">
                <a:solidFill>
                  <a:srgbClr val="6E5F94"/>
                </a:solidFill>
                <a:latin typeface="Calibri" pitchFamily="34" charset="0"/>
                <a:ea typeface="Calibri" pitchFamily="34" charset="-122"/>
                <a:cs typeface="Calibri" pitchFamily="34" charset="-120"/>
              </a:rPr>
              <a:t>Pembahasan disusun dengan mengkaji dan menganalisis berbagai sumber pustaka — jurnal, buku, dan hasil penelitian terdahulu — yang berkaitan dengan peran musik, konsentrasi, suasana hati, dan proses belajar.</a:t>
            </a:r>
            <a:endParaRPr lang="en-US" sz="1800" dirty="0"/>
          </a:p>
          <a:p>
            <a:pPr indent="0" marL="0">
              <a:lnSpc>
                <a:spcPct val="130000"/>
              </a:lnSpc>
              <a:buNone/>
            </a:pPr>
            <a:endParaRPr lang="en-US" sz="1800" dirty="0"/>
          </a:p>
          <a:p>
            <a:pPr indent="0" marL="0">
              <a:lnSpc>
                <a:spcPct val="130000"/>
              </a:lnSpc>
              <a:buNone/>
            </a:pPr>
            <a:r>
              <a:rPr lang="en-US" sz="1400" dirty="0">
                <a:solidFill>
                  <a:srgbClr val="6E5F94"/>
                </a:solidFill>
                <a:latin typeface="Calibri" pitchFamily="34" charset="0"/>
                <a:ea typeface="Calibri" pitchFamily="34" charset="-122"/>
                <a:cs typeface="Calibri" pitchFamily="34" charset="-120"/>
              </a:rPr>
              <a:t>Temuan dari sumber-sumber tersebut kemudian dihubungkan dengan landasan teori pada Bab II untuk menjawab rumusan masalah mengenai peran musik dalam menciptakan suasana belajar yang nyaman bagi siswa.</a:t>
            </a:r>
            <a:endParaRPr lang="en-US" sz="1800" dirty="0"/>
          </a:p>
        </p:txBody>
      </p:sp>
      <p:sp>
        <p:nvSpPr>
          <p:cNvPr id="8" name="Text 5"/>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9" name="Text 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5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III · PEMBAHASAN</a:t>
            </a:r>
            <a:endParaRPr lang="en-US" sz="1250" dirty="0"/>
          </a:p>
        </p:txBody>
      </p:sp>
      <p:sp>
        <p:nvSpPr>
          <p:cNvPr id="3" name="Text 1"/>
          <p:cNvSpPr/>
          <p:nvPr/>
        </p:nvSpPr>
        <p:spPr>
          <a:xfrm>
            <a:off x="640080" y="786384"/>
            <a:ext cx="7315200" cy="502920"/>
          </a:xfrm>
          <a:prstGeom prst="rect">
            <a:avLst/>
          </a:prstGeom>
          <a:noFill/>
          <a:ln/>
        </p:spPr>
        <p:txBody>
          <a:bodyPr wrap="square" rtlCol="0" anchor="ctr"/>
          <a:lstStyle/>
          <a:p>
            <a:pPr indent="0" marL="0">
              <a:buNone/>
            </a:pPr>
            <a:r>
              <a:rPr lang="en-US" sz="2700" b="1" dirty="0">
                <a:solidFill>
                  <a:srgbClr val="2D1B4E"/>
                </a:solidFill>
                <a:latin typeface="Cambria" pitchFamily="34" charset="0"/>
                <a:ea typeface="Cambria" pitchFamily="34" charset="-122"/>
                <a:cs typeface="Cambria" pitchFamily="34" charset="-120"/>
              </a:rPr>
              <a:t>Hasil &amp; Analisis (1)</a:t>
            </a:r>
            <a:endParaRPr lang="en-US" sz="2700" dirty="0"/>
          </a:p>
        </p:txBody>
      </p:sp>
      <p:sp>
        <p:nvSpPr>
          <p:cNvPr id="4" name="Shape 2"/>
          <p:cNvSpPr/>
          <p:nvPr/>
        </p:nvSpPr>
        <p:spPr>
          <a:xfrm>
            <a:off x="640080" y="1600200"/>
            <a:ext cx="10881360" cy="1325880"/>
          </a:xfrm>
          <a:prstGeom prst="roundRect">
            <a:avLst>
              <a:gd name="adj" fmla="val 5517"/>
            </a:avLst>
          </a:prstGeom>
          <a:solidFill>
            <a:srgbClr val="FFFFFF"/>
          </a:solidFill>
          <a:ln w="12700">
            <a:solidFill>
              <a:srgbClr val="E4DCF2"/>
            </a:solidFill>
            <a:prstDash val="solid"/>
          </a:ln>
        </p:spPr>
      </p:sp>
      <p:sp>
        <p:nvSpPr>
          <p:cNvPr id="5" name="Shape 3"/>
          <p:cNvSpPr/>
          <p:nvPr/>
        </p:nvSpPr>
        <p:spPr>
          <a:xfrm>
            <a:off x="914400" y="1856232"/>
            <a:ext cx="777240" cy="777240"/>
          </a:xfrm>
          <a:prstGeom prst="ellipse">
            <a:avLst/>
          </a:prstGeom>
          <a:solidFill>
            <a:srgbClr val="2D1B4E"/>
          </a:solidFill>
          <a:ln/>
        </p:spPr>
      </p:sp>
      <p:pic>
        <p:nvPicPr>
          <p:cNvPr id="6" name="Image 0" descr="/home/claude/kti-ppt/icon_heart.png">    </p:cNvPr>
          <p:cNvPicPr>
            <a:picLocks noChangeAspect="1"/>
          </p:cNvPicPr>
          <p:nvPr/>
        </p:nvPicPr>
        <p:blipFill>
          <a:blip r:embed="rId1"/>
          <a:stretch>
            <a:fillRect/>
          </a:stretch>
        </p:blipFill>
        <p:spPr>
          <a:xfrm>
            <a:off x="1116482" y="2058314"/>
            <a:ext cx="373075" cy="373075"/>
          </a:xfrm>
          <a:prstGeom prst="rect">
            <a:avLst/>
          </a:prstGeom>
        </p:spPr>
      </p:pic>
      <p:sp>
        <p:nvSpPr>
          <p:cNvPr id="7" name="Text 4"/>
          <p:cNvSpPr/>
          <p:nvPr/>
        </p:nvSpPr>
        <p:spPr>
          <a:xfrm>
            <a:off x="1920240" y="1746504"/>
            <a:ext cx="9326880" cy="365760"/>
          </a:xfrm>
          <a:prstGeom prst="rect">
            <a:avLst/>
          </a:prstGeom>
          <a:noFill/>
          <a:ln/>
        </p:spPr>
        <p:txBody>
          <a:bodyPr wrap="square" rtlCol="0" anchor="ctr"/>
          <a:lstStyle/>
          <a:p>
            <a:pPr indent="0" marL="0">
              <a:buNone/>
            </a:pPr>
            <a:r>
              <a:rPr lang="en-US" sz="1550" b="1" dirty="0">
                <a:solidFill>
                  <a:srgbClr val="2D1B4E"/>
                </a:solidFill>
                <a:latin typeface="Cambria" pitchFamily="34" charset="0"/>
                <a:ea typeface="Cambria" pitchFamily="34" charset="-122"/>
                <a:cs typeface="Cambria" pitchFamily="34" charset="-120"/>
              </a:rPr>
              <a:t>Pendukung Ketenangan</a:t>
            </a:r>
            <a:endParaRPr lang="en-US" sz="1550" dirty="0"/>
          </a:p>
        </p:txBody>
      </p:sp>
      <p:sp>
        <p:nvSpPr>
          <p:cNvPr id="8" name="Text 5"/>
          <p:cNvSpPr/>
          <p:nvPr/>
        </p:nvSpPr>
        <p:spPr>
          <a:xfrm>
            <a:off x="1920240" y="2130552"/>
            <a:ext cx="9326880" cy="685800"/>
          </a:xfrm>
          <a:prstGeom prst="rect">
            <a:avLst/>
          </a:prstGeom>
          <a:noFill/>
          <a:ln/>
        </p:spPr>
        <p:txBody>
          <a:bodyPr wrap="square" rtlCol="0" anchor="t"/>
          <a:lstStyle/>
          <a:p>
            <a:pPr indent="0" marL="0">
              <a:lnSpc>
                <a:spcPct val="115000"/>
              </a:lnSpc>
              <a:buNone/>
            </a:pPr>
            <a:r>
              <a:rPr lang="en-US" sz="1250" dirty="0">
                <a:solidFill>
                  <a:srgbClr val="6E5F94"/>
                </a:solidFill>
                <a:latin typeface="Calibri" pitchFamily="34" charset="0"/>
                <a:ea typeface="Calibri" pitchFamily="34" charset="-122"/>
                <a:cs typeface="Calibri" pitchFamily="34" charset="-120"/>
              </a:rPr>
              <a:t>Musik lembut membantu siswa merasa nyaman dan siap belajar, tanpa harus dalam keadaan hening sepenuhnya.</a:t>
            </a:r>
            <a:endParaRPr lang="en-US" sz="1250" dirty="0"/>
          </a:p>
        </p:txBody>
      </p:sp>
      <p:sp>
        <p:nvSpPr>
          <p:cNvPr id="9" name="Shape 6"/>
          <p:cNvSpPr/>
          <p:nvPr/>
        </p:nvSpPr>
        <p:spPr>
          <a:xfrm>
            <a:off x="640080" y="3136392"/>
            <a:ext cx="10881360" cy="1325880"/>
          </a:xfrm>
          <a:prstGeom prst="roundRect">
            <a:avLst>
              <a:gd name="adj" fmla="val 5517"/>
            </a:avLst>
          </a:prstGeom>
          <a:solidFill>
            <a:srgbClr val="FFFFFF"/>
          </a:solidFill>
          <a:ln w="12700">
            <a:solidFill>
              <a:srgbClr val="E4DCF2"/>
            </a:solidFill>
            <a:prstDash val="solid"/>
          </a:ln>
        </p:spPr>
      </p:sp>
      <p:sp>
        <p:nvSpPr>
          <p:cNvPr id="10" name="Shape 7"/>
          <p:cNvSpPr/>
          <p:nvPr/>
        </p:nvSpPr>
        <p:spPr>
          <a:xfrm>
            <a:off x="914400" y="3392424"/>
            <a:ext cx="777240" cy="777240"/>
          </a:xfrm>
          <a:prstGeom prst="ellipse">
            <a:avLst/>
          </a:prstGeom>
          <a:solidFill>
            <a:srgbClr val="2D1B4E"/>
          </a:solidFill>
          <a:ln/>
        </p:spPr>
      </p:sp>
      <p:pic>
        <p:nvPicPr>
          <p:cNvPr id="11" name="Image 1" descr="/home/claude/kti-ppt/icon_brain.png">    </p:cNvPr>
          <p:cNvPicPr>
            <a:picLocks noChangeAspect="1"/>
          </p:cNvPicPr>
          <p:nvPr/>
        </p:nvPicPr>
        <p:blipFill>
          <a:blip r:embed="rId2"/>
          <a:stretch>
            <a:fillRect/>
          </a:stretch>
        </p:blipFill>
        <p:spPr>
          <a:xfrm>
            <a:off x="1116482" y="3594506"/>
            <a:ext cx="373075" cy="373075"/>
          </a:xfrm>
          <a:prstGeom prst="rect">
            <a:avLst/>
          </a:prstGeom>
        </p:spPr>
      </p:pic>
      <p:sp>
        <p:nvSpPr>
          <p:cNvPr id="12" name="Text 8"/>
          <p:cNvSpPr/>
          <p:nvPr/>
        </p:nvSpPr>
        <p:spPr>
          <a:xfrm>
            <a:off x="1920240" y="3282696"/>
            <a:ext cx="9326880" cy="365760"/>
          </a:xfrm>
          <a:prstGeom prst="rect">
            <a:avLst/>
          </a:prstGeom>
          <a:noFill/>
          <a:ln/>
        </p:spPr>
        <p:txBody>
          <a:bodyPr wrap="square" rtlCol="0" anchor="ctr"/>
          <a:lstStyle/>
          <a:p>
            <a:pPr indent="0" marL="0">
              <a:buNone/>
            </a:pPr>
            <a:r>
              <a:rPr lang="en-US" sz="1550" b="1" dirty="0">
                <a:solidFill>
                  <a:srgbClr val="2D1B4E"/>
                </a:solidFill>
                <a:latin typeface="Cambria" pitchFamily="34" charset="0"/>
                <a:ea typeface="Cambria" pitchFamily="34" charset="-122"/>
                <a:cs typeface="Cambria" pitchFamily="34" charset="-120"/>
              </a:rPr>
              <a:t>Pendukung Konsentrasi</a:t>
            </a:r>
            <a:endParaRPr lang="en-US" sz="1550" dirty="0"/>
          </a:p>
        </p:txBody>
      </p:sp>
      <p:sp>
        <p:nvSpPr>
          <p:cNvPr id="13" name="Text 9"/>
          <p:cNvSpPr/>
          <p:nvPr/>
        </p:nvSpPr>
        <p:spPr>
          <a:xfrm>
            <a:off x="1920240" y="3666744"/>
            <a:ext cx="9326880" cy="685800"/>
          </a:xfrm>
          <a:prstGeom prst="rect">
            <a:avLst/>
          </a:prstGeom>
          <a:noFill/>
          <a:ln/>
        </p:spPr>
        <p:txBody>
          <a:bodyPr wrap="square" rtlCol="0" anchor="t"/>
          <a:lstStyle/>
          <a:p>
            <a:pPr indent="0" marL="0">
              <a:lnSpc>
                <a:spcPct val="115000"/>
              </a:lnSpc>
              <a:buNone/>
            </a:pPr>
            <a:r>
              <a:rPr lang="en-US" sz="1250" dirty="0">
                <a:solidFill>
                  <a:srgbClr val="6E5F94"/>
                </a:solidFill>
                <a:latin typeface="Calibri" pitchFamily="34" charset="0"/>
                <a:ea typeface="Calibri" pitchFamily="34" charset="-122"/>
                <a:cs typeface="Calibri" pitchFamily="34" charset="-120"/>
              </a:rPr>
              <a:t>Musik instrumental tanpa lirik tidak bersaing secara kognitif dengan proses membaca, menulis, atau menghafal.</a:t>
            </a:r>
            <a:endParaRPr lang="en-US" sz="1250" dirty="0"/>
          </a:p>
        </p:txBody>
      </p:sp>
      <p:sp>
        <p:nvSpPr>
          <p:cNvPr id="14" name="Shape 10"/>
          <p:cNvSpPr/>
          <p:nvPr/>
        </p:nvSpPr>
        <p:spPr>
          <a:xfrm>
            <a:off x="640080" y="4672584"/>
            <a:ext cx="10881360" cy="1325880"/>
          </a:xfrm>
          <a:prstGeom prst="roundRect">
            <a:avLst>
              <a:gd name="adj" fmla="val 5517"/>
            </a:avLst>
          </a:prstGeom>
          <a:solidFill>
            <a:srgbClr val="FFFFFF"/>
          </a:solidFill>
          <a:ln w="12700">
            <a:solidFill>
              <a:srgbClr val="E4DCF2"/>
            </a:solidFill>
            <a:prstDash val="solid"/>
          </a:ln>
        </p:spPr>
      </p:sp>
      <p:sp>
        <p:nvSpPr>
          <p:cNvPr id="15" name="Shape 11"/>
          <p:cNvSpPr/>
          <p:nvPr/>
        </p:nvSpPr>
        <p:spPr>
          <a:xfrm>
            <a:off x="914400" y="4928616"/>
            <a:ext cx="777240" cy="777240"/>
          </a:xfrm>
          <a:prstGeom prst="ellipse">
            <a:avLst/>
          </a:prstGeom>
          <a:solidFill>
            <a:srgbClr val="2D1B4E"/>
          </a:solidFill>
          <a:ln/>
        </p:spPr>
      </p:sp>
      <p:pic>
        <p:nvPicPr>
          <p:cNvPr id="16" name="Image 2" descr="/home/claude/kti-ppt/icon_chart.png">    </p:cNvPr>
          <p:cNvPicPr>
            <a:picLocks noChangeAspect="1"/>
          </p:cNvPicPr>
          <p:nvPr/>
        </p:nvPicPr>
        <p:blipFill>
          <a:blip r:embed="rId3"/>
          <a:stretch>
            <a:fillRect/>
          </a:stretch>
        </p:blipFill>
        <p:spPr>
          <a:xfrm>
            <a:off x="1116482" y="5130698"/>
            <a:ext cx="373075" cy="373075"/>
          </a:xfrm>
          <a:prstGeom prst="rect">
            <a:avLst/>
          </a:prstGeom>
        </p:spPr>
      </p:pic>
      <p:sp>
        <p:nvSpPr>
          <p:cNvPr id="17" name="Text 12"/>
          <p:cNvSpPr/>
          <p:nvPr/>
        </p:nvSpPr>
        <p:spPr>
          <a:xfrm>
            <a:off x="1920240" y="4818888"/>
            <a:ext cx="9326880" cy="365760"/>
          </a:xfrm>
          <a:prstGeom prst="rect">
            <a:avLst/>
          </a:prstGeom>
          <a:noFill/>
          <a:ln/>
        </p:spPr>
        <p:txBody>
          <a:bodyPr wrap="square" rtlCol="0" anchor="ctr"/>
          <a:lstStyle/>
          <a:p>
            <a:pPr indent="0" marL="0">
              <a:buNone/>
            </a:pPr>
            <a:r>
              <a:rPr lang="en-US" sz="1550" b="1" dirty="0">
                <a:solidFill>
                  <a:srgbClr val="2D1B4E"/>
                </a:solidFill>
                <a:latin typeface="Cambria" pitchFamily="34" charset="0"/>
                <a:ea typeface="Cambria" pitchFamily="34" charset="-122"/>
                <a:cs typeface="Cambria" pitchFamily="34" charset="-120"/>
              </a:rPr>
              <a:t>Penunjang Semangat Belajar</a:t>
            </a:r>
            <a:endParaRPr lang="en-US" sz="1550" dirty="0"/>
          </a:p>
        </p:txBody>
      </p:sp>
      <p:sp>
        <p:nvSpPr>
          <p:cNvPr id="18" name="Text 13"/>
          <p:cNvSpPr/>
          <p:nvPr/>
        </p:nvSpPr>
        <p:spPr>
          <a:xfrm>
            <a:off x="1920240" y="5202936"/>
            <a:ext cx="9326880" cy="685800"/>
          </a:xfrm>
          <a:prstGeom prst="rect">
            <a:avLst/>
          </a:prstGeom>
          <a:noFill/>
          <a:ln/>
        </p:spPr>
        <p:txBody>
          <a:bodyPr wrap="square" rtlCol="0" anchor="t"/>
          <a:lstStyle/>
          <a:p>
            <a:pPr indent="0" marL="0">
              <a:lnSpc>
                <a:spcPct val="115000"/>
              </a:lnSpc>
              <a:buNone/>
            </a:pPr>
            <a:r>
              <a:rPr lang="en-US" sz="1250" dirty="0">
                <a:solidFill>
                  <a:srgbClr val="6E5F94"/>
                </a:solidFill>
                <a:latin typeface="Calibri" pitchFamily="34" charset="0"/>
                <a:ea typeface="Calibri" pitchFamily="34" charset="-122"/>
                <a:cs typeface="Calibri" pitchFamily="34" charset="-120"/>
              </a:rPr>
              <a:t>Membantu siswa yang jenuh atau kurang bersemangat menjadi lebih siap memulai maupun melanjutkan tugas.</a:t>
            </a:r>
            <a:endParaRPr lang="en-US" sz="1250" dirty="0"/>
          </a:p>
        </p:txBody>
      </p:sp>
      <p:sp>
        <p:nvSpPr>
          <p:cNvPr id="19" name="Text 14"/>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20"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5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III · PEMBAHASAN</a:t>
            </a:r>
            <a:endParaRPr lang="en-US" sz="1250" dirty="0"/>
          </a:p>
        </p:txBody>
      </p:sp>
      <p:sp>
        <p:nvSpPr>
          <p:cNvPr id="3" name="Text 1"/>
          <p:cNvSpPr/>
          <p:nvPr/>
        </p:nvSpPr>
        <p:spPr>
          <a:xfrm>
            <a:off x="640080" y="786384"/>
            <a:ext cx="7315200" cy="502920"/>
          </a:xfrm>
          <a:prstGeom prst="rect">
            <a:avLst/>
          </a:prstGeom>
          <a:noFill/>
          <a:ln/>
        </p:spPr>
        <p:txBody>
          <a:bodyPr wrap="square" rtlCol="0" anchor="ctr"/>
          <a:lstStyle/>
          <a:p>
            <a:pPr indent="0" marL="0">
              <a:buNone/>
            </a:pPr>
            <a:r>
              <a:rPr lang="en-US" sz="2700" b="1" dirty="0">
                <a:solidFill>
                  <a:srgbClr val="2D1B4E"/>
                </a:solidFill>
                <a:latin typeface="Cambria" pitchFamily="34" charset="0"/>
                <a:ea typeface="Cambria" pitchFamily="34" charset="-122"/>
                <a:cs typeface="Cambria" pitchFamily="34" charset="-120"/>
              </a:rPr>
              <a:t>Hasil &amp; Analisis (2)</a:t>
            </a:r>
            <a:endParaRPr lang="en-US" sz="2700" dirty="0"/>
          </a:p>
        </p:txBody>
      </p:sp>
      <p:sp>
        <p:nvSpPr>
          <p:cNvPr id="4" name="Shape 2"/>
          <p:cNvSpPr/>
          <p:nvPr/>
        </p:nvSpPr>
        <p:spPr>
          <a:xfrm>
            <a:off x="640080" y="1554480"/>
            <a:ext cx="5212080" cy="2011680"/>
          </a:xfrm>
          <a:prstGeom prst="roundRect">
            <a:avLst>
              <a:gd name="adj" fmla="val 3636"/>
            </a:avLst>
          </a:prstGeom>
          <a:solidFill>
            <a:srgbClr val="FFFFFF"/>
          </a:solidFill>
          <a:ln w="12700">
            <a:solidFill>
              <a:srgbClr val="E4DCF2"/>
            </a:solidFill>
            <a:prstDash val="solid"/>
          </a:ln>
        </p:spPr>
      </p:sp>
      <p:sp>
        <p:nvSpPr>
          <p:cNvPr id="5" name="Shape 3"/>
          <p:cNvSpPr/>
          <p:nvPr/>
        </p:nvSpPr>
        <p:spPr>
          <a:xfrm>
            <a:off x="896112" y="1792224"/>
            <a:ext cx="548640" cy="548640"/>
          </a:xfrm>
          <a:prstGeom prst="ellipse">
            <a:avLst/>
          </a:prstGeom>
          <a:solidFill>
            <a:srgbClr val="2D1B4E"/>
          </a:solidFill>
          <a:ln/>
        </p:spPr>
      </p:sp>
      <p:pic>
        <p:nvPicPr>
          <p:cNvPr id="6" name="Image 0" descr="/home/claude/kti-ppt/icon_headphones.png">    </p:cNvPr>
          <p:cNvPicPr>
            <a:picLocks noChangeAspect="1"/>
          </p:cNvPicPr>
          <p:nvPr/>
        </p:nvPicPr>
        <p:blipFill>
          <a:blip r:embed="rId1"/>
          <a:stretch>
            <a:fillRect/>
          </a:stretch>
        </p:blipFill>
        <p:spPr>
          <a:xfrm>
            <a:off x="1038758" y="1934870"/>
            <a:ext cx="263347" cy="263347"/>
          </a:xfrm>
          <a:prstGeom prst="rect">
            <a:avLst/>
          </a:prstGeom>
        </p:spPr>
      </p:pic>
      <p:sp>
        <p:nvSpPr>
          <p:cNvPr id="7" name="Text 4"/>
          <p:cNvSpPr/>
          <p:nvPr/>
        </p:nvSpPr>
        <p:spPr>
          <a:xfrm>
            <a:off x="1600200" y="1773936"/>
            <a:ext cx="4023360" cy="594360"/>
          </a:xfrm>
          <a:prstGeom prst="rect">
            <a:avLst/>
          </a:prstGeom>
          <a:noFill/>
          <a:ln/>
        </p:spPr>
        <p:txBody>
          <a:bodyPr wrap="square" rtlCol="0" anchor="t"/>
          <a:lstStyle/>
          <a:p>
            <a:pPr indent="0" marL="0">
              <a:buNone/>
            </a:pPr>
            <a:r>
              <a:rPr lang="en-US" sz="1350" b="1" dirty="0">
                <a:solidFill>
                  <a:srgbClr val="2D1B4E"/>
                </a:solidFill>
                <a:latin typeface="Cambria" pitchFamily="34" charset="0"/>
                <a:ea typeface="Cambria" pitchFamily="34" charset="-122"/>
                <a:cs typeface="Cambria" pitchFamily="34" charset="-120"/>
              </a:rPr>
              <a:t>Jenis Musik Perlu Dipilih</a:t>
            </a:r>
            <a:endParaRPr lang="en-US" sz="1350" dirty="0"/>
          </a:p>
        </p:txBody>
      </p:sp>
      <p:sp>
        <p:nvSpPr>
          <p:cNvPr id="8" name="Text 5"/>
          <p:cNvSpPr/>
          <p:nvPr/>
        </p:nvSpPr>
        <p:spPr>
          <a:xfrm>
            <a:off x="896112" y="2468880"/>
            <a:ext cx="4700016" cy="1005840"/>
          </a:xfrm>
          <a:prstGeom prst="rect">
            <a:avLst/>
          </a:prstGeom>
          <a:noFill/>
          <a:ln/>
        </p:spPr>
        <p:txBody>
          <a:bodyPr wrap="square" rtlCol="0" anchor="t"/>
          <a:lstStyle/>
          <a:p>
            <a:pPr indent="0" marL="0">
              <a:lnSpc>
                <a:spcPct val="115000"/>
              </a:lnSpc>
              <a:buNone/>
            </a:pPr>
            <a:r>
              <a:rPr lang="en-US" sz="1100" dirty="0">
                <a:solidFill>
                  <a:srgbClr val="6E5F94"/>
                </a:solidFill>
                <a:latin typeface="Calibri" pitchFamily="34" charset="0"/>
                <a:ea typeface="Calibri" pitchFamily="34" charset="-122"/>
                <a:cs typeface="Calibri" pitchFamily="34" charset="-120"/>
              </a:rPr>
              <a:t>Instrumental, lo-fi, klasik, atau bunyi alam lebih sesuai untuk tugas yang butuh pemahaman tinggi; musik berlirik/tempo cepat berisiko mengalihkan perhatian.</a:t>
            </a:r>
            <a:endParaRPr lang="en-US" sz="1100" dirty="0"/>
          </a:p>
        </p:txBody>
      </p:sp>
      <p:sp>
        <p:nvSpPr>
          <p:cNvPr id="9" name="Shape 6"/>
          <p:cNvSpPr/>
          <p:nvPr/>
        </p:nvSpPr>
        <p:spPr>
          <a:xfrm>
            <a:off x="6217920" y="1554480"/>
            <a:ext cx="5212080" cy="2011680"/>
          </a:xfrm>
          <a:prstGeom prst="roundRect">
            <a:avLst>
              <a:gd name="adj" fmla="val 3636"/>
            </a:avLst>
          </a:prstGeom>
          <a:solidFill>
            <a:srgbClr val="FFFFFF"/>
          </a:solidFill>
          <a:ln w="12700">
            <a:solidFill>
              <a:srgbClr val="E4DCF2"/>
            </a:solidFill>
            <a:prstDash val="solid"/>
          </a:ln>
        </p:spPr>
      </p:sp>
      <p:sp>
        <p:nvSpPr>
          <p:cNvPr id="10" name="Shape 7"/>
          <p:cNvSpPr/>
          <p:nvPr/>
        </p:nvSpPr>
        <p:spPr>
          <a:xfrm>
            <a:off x="6473952" y="1792224"/>
            <a:ext cx="548640" cy="548640"/>
          </a:xfrm>
          <a:prstGeom prst="ellipse">
            <a:avLst/>
          </a:prstGeom>
          <a:solidFill>
            <a:srgbClr val="2D1B4E"/>
          </a:solidFill>
          <a:ln/>
        </p:spPr>
      </p:sp>
      <p:pic>
        <p:nvPicPr>
          <p:cNvPr id="11" name="Image 1" descr="/home/claude/kti-ppt/icon_volume.png">    </p:cNvPr>
          <p:cNvPicPr>
            <a:picLocks noChangeAspect="1"/>
          </p:cNvPicPr>
          <p:nvPr/>
        </p:nvPicPr>
        <p:blipFill>
          <a:blip r:embed="rId2"/>
          <a:stretch>
            <a:fillRect/>
          </a:stretch>
        </p:blipFill>
        <p:spPr>
          <a:xfrm>
            <a:off x="6616598" y="1934870"/>
            <a:ext cx="263347" cy="263347"/>
          </a:xfrm>
          <a:prstGeom prst="rect">
            <a:avLst/>
          </a:prstGeom>
        </p:spPr>
      </p:pic>
      <p:sp>
        <p:nvSpPr>
          <p:cNvPr id="12" name="Text 8"/>
          <p:cNvSpPr/>
          <p:nvPr/>
        </p:nvSpPr>
        <p:spPr>
          <a:xfrm>
            <a:off x="7178040" y="1773936"/>
            <a:ext cx="4023360" cy="594360"/>
          </a:xfrm>
          <a:prstGeom prst="rect">
            <a:avLst/>
          </a:prstGeom>
          <a:noFill/>
          <a:ln/>
        </p:spPr>
        <p:txBody>
          <a:bodyPr wrap="square" rtlCol="0" anchor="t"/>
          <a:lstStyle/>
          <a:p>
            <a:pPr indent="0" marL="0">
              <a:buNone/>
            </a:pPr>
            <a:r>
              <a:rPr lang="en-US" sz="1350" b="1" dirty="0">
                <a:solidFill>
                  <a:srgbClr val="2D1B4E"/>
                </a:solidFill>
                <a:latin typeface="Cambria" pitchFamily="34" charset="0"/>
                <a:ea typeface="Cambria" pitchFamily="34" charset="-122"/>
                <a:cs typeface="Cambria" pitchFamily="34" charset="-120"/>
              </a:rPr>
              <a:t>Volume, Tempo &amp; Durasi</a:t>
            </a:r>
            <a:endParaRPr lang="en-US" sz="1350" dirty="0"/>
          </a:p>
        </p:txBody>
      </p:sp>
      <p:sp>
        <p:nvSpPr>
          <p:cNvPr id="13" name="Text 9"/>
          <p:cNvSpPr/>
          <p:nvPr/>
        </p:nvSpPr>
        <p:spPr>
          <a:xfrm>
            <a:off x="6473952" y="2468880"/>
            <a:ext cx="4700016" cy="1005840"/>
          </a:xfrm>
          <a:prstGeom prst="rect">
            <a:avLst/>
          </a:prstGeom>
          <a:noFill/>
          <a:ln/>
        </p:spPr>
        <p:txBody>
          <a:bodyPr wrap="square" rtlCol="0" anchor="t"/>
          <a:lstStyle/>
          <a:p>
            <a:pPr indent="0" marL="0">
              <a:lnSpc>
                <a:spcPct val="115000"/>
              </a:lnSpc>
              <a:buNone/>
            </a:pPr>
            <a:r>
              <a:rPr lang="en-US" sz="1100" dirty="0">
                <a:solidFill>
                  <a:srgbClr val="6E5F94"/>
                </a:solidFill>
                <a:latin typeface="Calibri" pitchFamily="34" charset="0"/>
                <a:ea typeface="Calibri" pitchFamily="34" charset="-122"/>
                <a:cs typeface="Calibri" pitchFamily="34" charset="-120"/>
              </a:rPr>
              <a:t>Musik sebaiknya diputar rendah sebagai latar dan dibatasi durasinya agar tidak menimbulkan ketergantungan.</a:t>
            </a:r>
            <a:endParaRPr lang="en-US" sz="1100" dirty="0"/>
          </a:p>
        </p:txBody>
      </p:sp>
      <p:sp>
        <p:nvSpPr>
          <p:cNvPr id="14" name="Shape 10"/>
          <p:cNvSpPr/>
          <p:nvPr/>
        </p:nvSpPr>
        <p:spPr>
          <a:xfrm>
            <a:off x="640080" y="3858768"/>
            <a:ext cx="5212080" cy="2011680"/>
          </a:xfrm>
          <a:prstGeom prst="roundRect">
            <a:avLst>
              <a:gd name="adj" fmla="val 3636"/>
            </a:avLst>
          </a:prstGeom>
          <a:solidFill>
            <a:srgbClr val="FFFFFF"/>
          </a:solidFill>
          <a:ln w="12700">
            <a:solidFill>
              <a:srgbClr val="E4DCF2"/>
            </a:solidFill>
            <a:prstDash val="solid"/>
          </a:ln>
        </p:spPr>
      </p:sp>
      <p:sp>
        <p:nvSpPr>
          <p:cNvPr id="15" name="Shape 11"/>
          <p:cNvSpPr/>
          <p:nvPr/>
        </p:nvSpPr>
        <p:spPr>
          <a:xfrm>
            <a:off x="896112" y="4096512"/>
            <a:ext cx="548640" cy="548640"/>
          </a:xfrm>
          <a:prstGeom prst="ellipse">
            <a:avLst/>
          </a:prstGeom>
          <a:solidFill>
            <a:srgbClr val="2D1B4E"/>
          </a:solidFill>
          <a:ln/>
        </p:spPr>
      </p:sp>
      <p:pic>
        <p:nvPicPr>
          <p:cNvPr id="16" name="Image 2" descr="/home/claude/kti-ppt/icon_target.png">    </p:cNvPr>
          <p:cNvPicPr>
            <a:picLocks noChangeAspect="1"/>
          </p:cNvPicPr>
          <p:nvPr/>
        </p:nvPicPr>
        <p:blipFill>
          <a:blip r:embed="rId3"/>
          <a:stretch>
            <a:fillRect/>
          </a:stretch>
        </p:blipFill>
        <p:spPr>
          <a:xfrm>
            <a:off x="1038758" y="4239158"/>
            <a:ext cx="263347" cy="263347"/>
          </a:xfrm>
          <a:prstGeom prst="rect">
            <a:avLst/>
          </a:prstGeom>
        </p:spPr>
      </p:pic>
      <p:sp>
        <p:nvSpPr>
          <p:cNvPr id="17" name="Text 12"/>
          <p:cNvSpPr/>
          <p:nvPr/>
        </p:nvSpPr>
        <p:spPr>
          <a:xfrm>
            <a:off x="1600200" y="4078224"/>
            <a:ext cx="4023360" cy="594360"/>
          </a:xfrm>
          <a:prstGeom prst="rect">
            <a:avLst/>
          </a:prstGeom>
          <a:noFill/>
          <a:ln/>
        </p:spPr>
        <p:txBody>
          <a:bodyPr wrap="square" rtlCol="0" anchor="t"/>
          <a:lstStyle/>
          <a:p>
            <a:pPr indent="0" marL="0">
              <a:buNone/>
            </a:pPr>
            <a:r>
              <a:rPr lang="en-US" sz="1350" b="1" dirty="0">
                <a:solidFill>
                  <a:srgbClr val="2D1B4E"/>
                </a:solidFill>
                <a:latin typeface="Cambria" pitchFamily="34" charset="0"/>
                <a:ea typeface="Cambria" pitchFamily="34" charset="-122"/>
                <a:cs typeface="Cambria" pitchFamily="34" charset="-120"/>
              </a:rPr>
              <a:t>Kesesuaian dengan Jenis Tugas</a:t>
            </a:r>
            <a:endParaRPr lang="en-US" sz="1350" dirty="0"/>
          </a:p>
        </p:txBody>
      </p:sp>
      <p:sp>
        <p:nvSpPr>
          <p:cNvPr id="18" name="Text 13"/>
          <p:cNvSpPr/>
          <p:nvPr/>
        </p:nvSpPr>
        <p:spPr>
          <a:xfrm>
            <a:off x="896112" y="4773168"/>
            <a:ext cx="4700016" cy="1005840"/>
          </a:xfrm>
          <a:prstGeom prst="rect">
            <a:avLst/>
          </a:prstGeom>
          <a:noFill/>
          <a:ln/>
        </p:spPr>
        <p:txBody>
          <a:bodyPr wrap="square" rtlCol="0" anchor="t"/>
          <a:lstStyle/>
          <a:p>
            <a:pPr indent="0" marL="0">
              <a:lnSpc>
                <a:spcPct val="115000"/>
              </a:lnSpc>
              <a:buNone/>
            </a:pPr>
            <a:r>
              <a:rPr lang="en-US" sz="1100" dirty="0">
                <a:solidFill>
                  <a:srgbClr val="6E5F94"/>
                </a:solidFill>
                <a:latin typeface="Calibri" pitchFamily="34" charset="0"/>
                <a:ea typeface="Calibri" pitchFamily="34" charset="-122"/>
                <a:cs typeface="Calibri" pitchFamily="34" charset="-120"/>
              </a:rPr>
              <a:t>Tugas rutin lebih fleksibel terhadap musik, sedangkan materi baru/sulit lebih baik dipelajari dalam suasana tenang.</a:t>
            </a:r>
            <a:endParaRPr lang="en-US" sz="1100" dirty="0"/>
          </a:p>
        </p:txBody>
      </p:sp>
      <p:sp>
        <p:nvSpPr>
          <p:cNvPr id="19" name="Shape 14"/>
          <p:cNvSpPr/>
          <p:nvPr/>
        </p:nvSpPr>
        <p:spPr>
          <a:xfrm>
            <a:off x="6217920" y="3858768"/>
            <a:ext cx="5212080" cy="2011680"/>
          </a:xfrm>
          <a:prstGeom prst="roundRect">
            <a:avLst>
              <a:gd name="adj" fmla="val 3636"/>
            </a:avLst>
          </a:prstGeom>
          <a:solidFill>
            <a:srgbClr val="FFFFFF"/>
          </a:solidFill>
          <a:ln w="12700">
            <a:solidFill>
              <a:srgbClr val="E4DCF2"/>
            </a:solidFill>
            <a:prstDash val="solid"/>
          </a:ln>
        </p:spPr>
      </p:sp>
      <p:sp>
        <p:nvSpPr>
          <p:cNvPr id="20" name="Shape 15"/>
          <p:cNvSpPr/>
          <p:nvPr/>
        </p:nvSpPr>
        <p:spPr>
          <a:xfrm>
            <a:off x="6473952" y="4096512"/>
            <a:ext cx="548640" cy="548640"/>
          </a:xfrm>
          <a:prstGeom prst="ellipse">
            <a:avLst/>
          </a:prstGeom>
          <a:solidFill>
            <a:srgbClr val="2D1B4E"/>
          </a:solidFill>
          <a:ln/>
        </p:spPr>
      </p:sp>
      <p:pic>
        <p:nvPicPr>
          <p:cNvPr id="21" name="Image 3" descr="/home/claude/kti-ppt/icon_users.png">    </p:cNvPr>
          <p:cNvPicPr>
            <a:picLocks noChangeAspect="1"/>
          </p:cNvPicPr>
          <p:nvPr/>
        </p:nvPicPr>
        <p:blipFill>
          <a:blip r:embed="rId4"/>
          <a:stretch>
            <a:fillRect/>
          </a:stretch>
        </p:blipFill>
        <p:spPr>
          <a:xfrm>
            <a:off x="6616598" y="4239158"/>
            <a:ext cx="263347" cy="263347"/>
          </a:xfrm>
          <a:prstGeom prst="rect">
            <a:avLst/>
          </a:prstGeom>
        </p:spPr>
      </p:pic>
      <p:sp>
        <p:nvSpPr>
          <p:cNvPr id="22" name="Text 16"/>
          <p:cNvSpPr/>
          <p:nvPr/>
        </p:nvSpPr>
        <p:spPr>
          <a:xfrm>
            <a:off x="7178040" y="4078224"/>
            <a:ext cx="4023360" cy="594360"/>
          </a:xfrm>
          <a:prstGeom prst="rect">
            <a:avLst/>
          </a:prstGeom>
          <a:noFill/>
          <a:ln/>
        </p:spPr>
        <p:txBody>
          <a:bodyPr wrap="square" rtlCol="0" anchor="t"/>
          <a:lstStyle/>
          <a:p>
            <a:pPr indent="0" marL="0">
              <a:buNone/>
            </a:pPr>
            <a:r>
              <a:rPr lang="en-US" sz="1350" b="1" dirty="0">
                <a:solidFill>
                  <a:srgbClr val="2D1B4E"/>
                </a:solidFill>
                <a:latin typeface="Cambria" pitchFamily="34" charset="0"/>
                <a:ea typeface="Cambria" pitchFamily="34" charset="-122"/>
                <a:cs typeface="Cambria" pitchFamily="34" charset="-120"/>
              </a:rPr>
              <a:t>Faktor Individu &amp; Batasan</a:t>
            </a:r>
            <a:endParaRPr lang="en-US" sz="1350" dirty="0"/>
          </a:p>
        </p:txBody>
      </p:sp>
      <p:sp>
        <p:nvSpPr>
          <p:cNvPr id="23" name="Text 17"/>
          <p:cNvSpPr/>
          <p:nvPr/>
        </p:nvSpPr>
        <p:spPr>
          <a:xfrm>
            <a:off x="6473952" y="4773168"/>
            <a:ext cx="4700016" cy="1005840"/>
          </a:xfrm>
          <a:prstGeom prst="rect">
            <a:avLst/>
          </a:prstGeom>
          <a:noFill/>
          <a:ln/>
        </p:spPr>
        <p:txBody>
          <a:bodyPr wrap="square" rtlCol="0" anchor="t"/>
          <a:lstStyle/>
          <a:p>
            <a:pPr indent="0" marL="0">
              <a:lnSpc>
                <a:spcPct val="115000"/>
              </a:lnSpc>
              <a:buNone/>
            </a:pPr>
            <a:r>
              <a:rPr lang="en-US" sz="1100" dirty="0">
                <a:solidFill>
                  <a:srgbClr val="6E5F94"/>
                </a:solidFill>
                <a:latin typeface="Calibri" pitchFamily="34" charset="0"/>
                <a:ea typeface="Calibri" pitchFamily="34" charset="-122"/>
                <a:cs typeface="Calibri" pitchFamily="34" charset="-120"/>
              </a:rPr>
              <a:t>Efektivitas musik bergantung pada preferensi, emosi, dan kesulitan materi; bukan alasan menunda tugas atau berlama dengan gawai.</a:t>
            </a:r>
            <a:endParaRPr lang="en-US" sz="1100" dirty="0"/>
          </a:p>
        </p:txBody>
      </p:sp>
      <p:sp>
        <p:nvSpPr>
          <p:cNvPr id="24" name="Text 1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D1B4E"/>
        </a:solidFill>
      </p:bgPr>
    </p:bg>
    <p:spTree>
      <p:nvGrpSpPr>
        <p:cNvPr id="1" name=""/>
        <p:cNvGrpSpPr/>
        <p:nvPr/>
      </p:nvGrpSpPr>
      <p:grpSpPr>
        <a:xfrm>
          <a:off x="0" y="0"/>
          <a:ext cx="0" cy="0"/>
          <a:chOff x="0" y="0"/>
          <a:chExt cx="0" cy="0"/>
        </a:xfrm>
      </p:grpSpPr>
      <p:sp>
        <p:nvSpPr>
          <p:cNvPr id="2" name="Text 0"/>
          <p:cNvSpPr/>
          <p:nvPr/>
        </p:nvSpPr>
        <p:spPr>
          <a:xfrm rot="-600000">
            <a:off x="11338560" y="457200"/>
            <a:ext cx="548640" cy="548640"/>
          </a:xfrm>
          <a:prstGeom prst="rect">
            <a:avLst/>
          </a:prstGeom>
          <a:noFill/>
          <a:ln/>
        </p:spPr>
        <p:txBody>
          <a:bodyPr wrap="square" rtlCol="0" anchor="ctr"/>
          <a:lstStyle/>
          <a:p>
            <a:pPr algn="ctr" indent="0" marL="0">
              <a:buNone/>
            </a:pPr>
            <a:r>
              <a:rPr lang="en-US" sz="2000" dirty="0">
                <a:solidFill>
                  <a:srgbClr val="9C8FC4"/>
                </a:solidFill>
                <a:latin typeface="Calibri" pitchFamily="34" charset="0"/>
                <a:ea typeface="Calibri" pitchFamily="34" charset="-122"/>
                <a:cs typeface="Calibri" pitchFamily="34" charset="-120"/>
              </a:rPr>
              <a:t>♫</a:t>
            </a:r>
            <a:endParaRPr lang="en-US" sz="2000" dirty="0"/>
          </a:p>
        </p:txBody>
      </p:sp>
      <p:sp>
        <p:nvSpPr>
          <p:cNvPr id="3" name="Text 1"/>
          <p:cNvSpPr/>
          <p:nvPr/>
        </p:nvSpPr>
        <p:spPr>
          <a:xfrm rot="600000">
            <a:off x="11155680" y="5852160"/>
            <a:ext cx="548640" cy="548640"/>
          </a:xfrm>
          <a:prstGeom prst="rect">
            <a:avLst/>
          </a:prstGeom>
          <a:noFill/>
          <a:ln/>
        </p:spPr>
        <p:txBody>
          <a:bodyPr wrap="square" rtlCol="0" anchor="ctr"/>
          <a:lstStyle/>
          <a:p>
            <a:pPr algn="ctr" indent="0" marL="0">
              <a:buNone/>
            </a:pPr>
            <a:r>
              <a:rPr lang="en-US" sz="2000" dirty="0">
                <a:solidFill>
                  <a:srgbClr val="9C8FC4"/>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640080" y="457200"/>
            <a:ext cx="73152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III · PEMBAHASAN</a:t>
            </a:r>
            <a:endParaRPr lang="en-US" sz="1250" dirty="0"/>
          </a:p>
        </p:txBody>
      </p:sp>
      <p:sp>
        <p:nvSpPr>
          <p:cNvPr id="5" name="Text 3"/>
          <p:cNvSpPr/>
          <p:nvPr/>
        </p:nvSpPr>
        <p:spPr>
          <a:xfrm>
            <a:off x="640080" y="896112"/>
            <a:ext cx="8229600" cy="50292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Sintesis Pembahasan</a:t>
            </a:r>
            <a:endParaRPr lang="en-US" sz="2700" dirty="0"/>
          </a:p>
        </p:txBody>
      </p:sp>
      <p:sp>
        <p:nvSpPr>
          <p:cNvPr id="6" name="Shape 4"/>
          <p:cNvSpPr/>
          <p:nvPr/>
        </p:nvSpPr>
        <p:spPr>
          <a:xfrm>
            <a:off x="640080" y="1874520"/>
            <a:ext cx="685800" cy="685800"/>
          </a:xfrm>
          <a:prstGeom prst="ellipse">
            <a:avLst/>
          </a:prstGeom>
          <a:solidFill>
            <a:srgbClr val="E3B23C"/>
          </a:solidFill>
          <a:ln/>
        </p:spPr>
      </p:sp>
      <p:pic>
        <p:nvPicPr>
          <p:cNvPr id="7" name="Image 0" descr="/home/claude/kti-ppt/icon_quote.png">    </p:cNvPr>
          <p:cNvPicPr>
            <a:picLocks noChangeAspect="1"/>
          </p:cNvPicPr>
          <p:nvPr/>
        </p:nvPicPr>
        <p:blipFill>
          <a:blip r:embed="rId1"/>
          <a:stretch>
            <a:fillRect/>
          </a:stretch>
        </p:blipFill>
        <p:spPr>
          <a:xfrm>
            <a:off x="818388" y="2052828"/>
            <a:ext cx="329184" cy="329184"/>
          </a:xfrm>
          <a:prstGeom prst="rect">
            <a:avLst/>
          </a:prstGeom>
        </p:spPr>
      </p:pic>
      <p:sp>
        <p:nvSpPr>
          <p:cNvPr id="8" name="Text 5"/>
          <p:cNvSpPr/>
          <p:nvPr/>
        </p:nvSpPr>
        <p:spPr>
          <a:xfrm>
            <a:off x="1554480" y="1828800"/>
            <a:ext cx="9966960" cy="1463040"/>
          </a:xfrm>
          <a:prstGeom prst="rect">
            <a:avLst/>
          </a:prstGeom>
          <a:noFill/>
          <a:ln/>
        </p:spPr>
        <p:txBody>
          <a:bodyPr wrap="square" rtlCol="0" anchor="t"/>
          <a:lstStyle/>
          <a:p>
            <a:pPr indent="0" marL="0">
              <a:lnSpc>
                <a:spcPct val="130000"/>
              </a:lnSpc>
              <a:buNone/>
            </a:pPr>
            <a:r>
              <a:rPr lang="en-US" sz="1450" i="1" dirty="0">
                <a:solidFill>
                  <a:srgbClr val="C9BBEA"/>
                </a:solidFill>
                <a:latin typeface="Calibri" pitchFamily="34" charset="0"/>
                <a:ea typeface="Calibri" pitchFamily="34" charset="-122"/>
                <a:cs typeface="Calibri" pitchFamily="34" charset="-120"/>
              </a:rPr>
              <a:t>Musik bukan faktor tunggal penentu keberhasilan belajar, melainkan pendukung yang efektivitasnya bergantung pada jenis musik, volume, durasi, jenis tugas, serta kondisi emosi dan preferensi masing-masing siswa — sejalan dengan teori arousal dan konsep suasana belajar (Herman dkk., 2022; Khoirot dkk., 2024).</a:t>
            </a:r>
            <a:endParaRPr lang="en-US" sz="1450" dirty="0"/>
          </a:p>
        </p:txBody>
      </p:sp>
      <p:sp>
        <p:nvSpPr>
          <p:cNvPr id="9" name="Shape 6"/>
          <p:cNvSpPr/>
          <p:nvPr/>
        </p:nvSpPr>
        <p:spPr>
          <a:xfrm>
            <a:off x="640080" y="3703320"/>
            <a:ext cx="10881360" cy="2377440"/>
          </a:xfrm>
          <a:prstGeom prst="roundRect">
            <a:avLst>
              <a:gd name="adj" fmla="val 3077"/>
            </a:avLst>
          </a:prstGeom>
          <a:solidFill>
            <a:srgbClr val="20143A"/>
          </a:solidFill>
          <a:ln/>
        </p:spPr>
      </p:sp>
      <p:sp>
        <p:nvSpPr>
          <p:cNvPr id="10" name="Text 7"/>
          <p:cNvSpPr/>
          <p:nvPr/>
        </p:nvSpPr>
        <p:spPr>
          <a:xfrm>
            <a:off x="960120" y="3931920"/>
            <a:ext cx="4572000" cy="365760"/>
          </a:xfrm>
          <a:prstGeom prst="rect">
            <a:avLst/>
          </a:prstGeom>
          <a:noFill/>
          <a:ln/>
        </p:spPr>
        <p:txBody>
          <a:bodyPr wrap="square" rtlCol="0" anchor="ctr"/>
          <a:lstStyle/>
          <a:p>
            <a:pPr indent="0" marL="0">
              <a:buNone/>
            </a:pPr>
            <a:r>
              <a:rPr lang="en-US" sz="1500" b="1" dirty="0">
                <a:solidFill>
                  <a:srgbClr val="E3B23C"/>
                </a:solidFill>
                <a:latin typeface="Cambria" pitchFamily="34" charset="0"/>
                <a:ea typeface="Cambria" pitchFamily="34" charset="-122"/>
                <a:cs typeface="Cambria" pitchFamily="34" charset="-120"/>
              </a:rPr>
              <a:t>Langkah Penerapan:</a:t>
            </a:r>
            <a:endParaRPr lang="en-US" sz="1500" dirty="0"/>
          </a:p>
        </p:txBody>
      </p:sp>
      <p:sp>
        <p:nvSpPr>
          <p:cNvPr id="11" name="Text 8"/>
          <p:cNvSpPr/>
          <p:nvPr/>
        </p:nvSpPr>
        <p:spPr>
          <a:xfrm>
            <a:off x="1005840" y="4343400"/>
            <a:ext cx="10241280" cy="1645920"/>
          </a:xfrm>
          <a:prstGeom prst="rect">
            <a:avLst/>
          </a:prstGeom>
          <a:noFill/>
          <a:ln/>
        </p:spPr>
        <p:txBody>
          <a:bodyPr wrap="square" rtlCol="0" anchor="t"/>
          <a:lstStyle/>
          <a:p>
            <a:pPr marL="342900" indent="-342900">
              <a:lnSpc>
                <a:spcPct val="115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Menyiapkan tempat &amp; materi belajar</a:t>
            </a:r>
            <a:endParaRPr lang="en-US" sz="1300" dirty="0"/>
          </a:p>
          <a:p>
            <a:pPr marL="342900" indent="-342900">
              <a:lnSpc>
                <a:spcPct val="115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Memilih musik sesuai kebutuhan</a:t>
            </a:r>
            <a:endParaRPr lang="en-US" sz="1300" dirty="0"/>
          </a:p>
          <a:p>
            <a:pPr marL="342900" indent="-342900">
              <a:lnSpc>
                <a:spcPct val="115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Menentukan target belajar yang jelas</a:t>
            </a:r>
            <a:endParaRPr lang="en-US" sz="1300" dirty="0"/>
          </a:p>
          <a:p>
            <a:pPr marL="342900" indent="-342900">
              <a:lnSpc>
                <a:spcPct val="115000"/>
              </a:lnSpc>
              <a:buSzPct val="100000"/>
              <a:buChar char="•"/>
            </a:pPr>
            <a:r>
              <a:rPr lang="en-US" sz="1300" dirty="0">
                <a:solidFill>
                  <a:srgbClr val="FFFFFF"/>
                </a:solidFill>
                <a:latin typeface="Calibri" pitchFamily="34" charset="0"/>
                <a:ea typeface="Calibri" pitchFamily="34" charset="-122"/>
                <a:cs typeface="Calibri" pitchFamily="34" charset="-120"/>
              </a:rPr>
              <a:t>Mengatur waktu istirahat agar musik tetap sebagai latar</a:t>
            </a:r>
            <a:endParaRPr lang="en-US" sz="1300" dirty="0"/>
          </a:p>
        </p:txBody>
      </p:sp>
      <p:sp>
        <p:nvSpPr>
          <p:cNvPr id="12" name="Text 9"/>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B8A9D9"/>
                </a:solidFill>
                <a:latin typeface="Calibri" pitchFamily="34" charset="0"/>
                <a:ea typeface="Calibri" pitchFamily="34" charset="-122"/>
                <a:cs typeface="Calibri" pitchFamily="34" charset="-120"/>
              </a:rPr>
              <a:t>Peran Musik Dalam Menciptakan Suasana Belajar</a:t>
            </a:r>
            <a:endParaRPr lang="en-US" sz="900" dirty="0"/>
          </a:p>
        </p:txBody>
      </p:sp>
      <p:sp>
        <p:nvSpPr>
          <p:cNvPr id="13" name="Text 1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B8A9D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5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IV · PENUTUP</a:t>
            </a:r>
            <a:endParaRPr lang="en-US" sz="1250" dirty="0"/>
          </a:p>
        </p:txBody>
      </p:sp>
      <p:sp>
        <p:nvSpPr>
          <p:cNvPr id="3" name="Text 1"/>
          <p:cNvSpPr/>
          <p:nvPr/>
        </p:nvSpPr>
        <p:spPr>
          <a:xfrm>
            <a:off x="640080" y="786384"/>
            <a:ext cx="7315200" cy="502920"/>
          </a:xfrm>
          <a:prstGeom prst="rect">
            <a:avLst/>
          </a:prstGeom>
          <a:noFill/>
          <a:ln/>
        </p:spPr>
        <p:txBody>
          <a:bodyPr wrap="square" rtlCol="0" anchor="ctr"/>
          <a:lstStyle/>
          <a:p>
            <a:pPr indent="0" marL="0">
              <a:buNone/>
            </a:pPr>
            <a:r>
              <a:rPr lang="en-US" sz="2700" b="1" dirty="0">
                <a:solidFill>
                  <a:srgbClr val="2D1B4E"/>
                </a:solidFill>
                <a:latin typeface="Cambria" pitchFamily="34" charset="0"/>
                <a:ea typeface="Cambria" pitchFamily="34" charset="-122"/>
                <a:cs typeface="Cambria" pitchFamily="34" charset="-120"/>
              </a:rPr>
              <a:t>Kesimpulan</a:t>
            </a:r>
            <a:endParaRPr lang="en-US" sz="2700" dirty="0"/>
          </a:p>
        </p:txBody>
      </p:sp>
      <p:sp>
        <p:nvSpPr>
          <p:cNvPr id="4" name="Shape 2"/>
          <p:cNvSpPr/>
          <p:nvPr/>
        </p:nvSpPr>
        <p:spPr>
          <a:xfrm>
            <a:off x="640080" y="1600200"/>
            <a:ext cx="10881360" cy="1874520"/>
          </a:xfrm>
          <a:prstGeom prst="roundRect">
            <a:avLst>
              <a:gd name="adj" fmla="val 3902"/>
            </a:avLst>
          </a:prstGeom>
          <a:solidFill>
            <a:srgbClr val="FFFFFF"/>
          </a:solidFill>
          <a:ln w="12700">
            <a:solidFill>
              <a:srgbClr val="E4DCF2"/>
            </a:solidFill>
            <a:prstDash val="solid"/>
          </a:ln>
        </p:spPr>
      </p:sp>
      <p:sp>
        <p:nvSpPr>
          <p:cNvPr id="5" name="Shape 3"/>
          <p:cNvSpPr/>
          <p:nvPr/>
        </p:nvSpPr>
        <p:spPr>
          <a:xfrm>
            <a:off x="914400" y="1828800"/>
            <a:ext cx="685800" cy="685800"/>
          </a:xfrm>
          <a:prstGeom prst="ellipse">
            <a:avLst/>
          </a:prstGeom>
          <a:solidFill>
            <a:srgbClr val="2D1B4E"/>
          </a:solidFill>
          <a:ln/>
        </p:spPr>
      </p:sp>
      <p:pic>
        <p:nvPicPr>
          <p:cNvPr id="6" name="Image 0" descr="/home/claude/kti-ppt/icon_check.png">    </p:cNvPr>
          <p:cNvPicPr>
            <a:picLocks noChangeAspect="1"/>
          </p:cNvPicPr>
          <p:nvPr/>
        </p:nvPicPr>
        <p:blipFill>
          <a:blip r:embed="rId1"/>
          <a:stretch>
            <a:fillRect/>
          </a:stretch>
        </p:blipFill>
        <p:spPr>
          <a:xfrm>
            <a:off x="1092708" y="2007108"/>
            <a:ext cx="329184" cy="329184"/>
          </a:xfrm>
          <a:prstGeom prst="rect">
            <a:avLst/>
          </a:prstGeom>
        </p:spPr>
      </p:pic>
      <p:sp>
        <p:nvSpPr>
          <p:cNvPr id="7" name="Text 4"/>
          <p:cNvSpPr/>
          <p:nvPr/>
        </p:nvSpPr>
        <p:spPr>
          <a:xfrm>
            <a:off x="1828800" y="1783080"/>
            <a:ext cx="9418320" cy="1554480"/>
          </a:xfrm>
          <a:prstGeom prst="rect">
            <a:avLst/>
          </a:prstGeom>
          <a:noFill/>
          <a:ln/>
        </p:spPr>
        <p:txBody>
          <a:bodyPr wrap="square" rtlCol="0" anchor="t"/>
          <a:lstStyle/>
          <a:p>
            <a:pPr indent="0" marL="0">
              <a:lnSpc>
                <a:spcPct val="125000"/>
              </a:lnSpc>
              <a:buNone/>
            </a:pPr>
            <a:r>
              <a:rPr lang="en-US" sz="1300" dirty="0">
                <a:solidFill>
                  <a:srgbClr val="2D1B4E"/>
                </a:solidFill>
                <a:latin typeface="Calibri" pitchFamily="34" charset="0"/>
                <a:ea typeface="Calibri" pitchFamily="34" charset="-122"/>
                <a:cs typeface="Calibri" pitchFamily="34" charset="-120"/>
              </a:rPr>
              <a:t>Musik berperan sebagai pendukung dalam menciptakan suasana belajar siswa — membantu ketenangan, mendukung konsentrasi (terutama musik instrumental minim lirik), serta mengelola suasana hati dan membangkitkan semangat belajar. Pengaruhnya tidak selalu signifikan pada setiap siswa karena bergantung pada jenis musik dan karakteristik individu.</a:t>
            </a:r>
            <a:endParaRPr lang="en-US" sz="1300" dirty="0"/>
          </a:p>
        </p:txBody>
      </p:sp>
      <p:sp>
        <p:nvSpPr>
          <p:cNvPr id="8" name="Shape 5"/>
          <p:cNvSpPr/>
          <p:nvPr/>
        </p:nvSpPr>
        <p:spPr>
          <a:xfrm>
            <a:off x="640080" y="3703320"/>
            <a:ext cx="10881360" cy="2377440"/>
          </a:xfrm>
          <a:prstGeom prst="roundRect">
            <a:avLst>
              <a:gd name="adj" fmla="val 3077"/>
            </a:avLst>
          </a:prstGeom>
          <a:solidFill>
            <a:srgbClr val="2D1B4E"/>
          </a:solidFill>
          <a:ln/>
        </p:spPr>
      </p:sp>
      <p:sp>
        <p:nvSpPr>
          <p:cNvPr id="9" name="Shape 6"/>
          <p:cNvSpPr/>
          <p:nvPr/>
        </p:nvSpPr>
        <p:spPr>
          <a:xfrm>
            <a:off x="914400" y="3950208"/>
            <a:ext cx="685800" cy="685800"/>
          </a:xfrm>
          <a:prstGeom prst="ellipse">
            <a:avLst/>
          </a:prstGeom>
          <a:solidFill>
            <a:srgbClr val="E3B23C"/>
          </a:solidFill>
          <a:ln/>
        </p:spPr>
      </p:sp>
      <p:pic>
        <p:nvPicPr>
          <p:cNvPr id="10" name="Image 1" descr="/home/claude/kti-ppt/icon_music.png">    </p:cNvPr>
          <p:cNvPicPr>
            <a:picLocks noChangeAspect="1"/>
          </p:cNvPicPr>
          <p:nvPr/>
        </p:nvPicPr>
        <p:blipFill>
          <a:blip r:embed="rId2"/>
          <a:stretch>
            <a:fillRect/>
          </a:stretch>
        </p:blipFill>
        <p:spPr>
          <a:xfrm>
            <a:off x="1092708" y="4128516"/>
            <a:ext cx="329184" cy="329184"/>
          </a:xfrm>
          <a:prstGeom prst="rect">
            <a:avLst/>
          </a:prstGeom>
        </p:spPr>
      </p:pic>
      <p:sp>
        <p:nvSpPr>
          <p:cNvPr id="11" name="Text 7"/>
          <p:cNvSpPr/>
          <p:nvPr/>
        </p:nvSpPr>
        <p:spPr>
          <a:xfrm>
            <a:off x="1828800" y="3886200"/>
            <a:ext cx="9418320" cy="2011680"/>
          </a:xfrm>
          <a:prstGeom prst="rect">
            <a:avLst/>
          </a:prstGeom>
          <a:noFill/>
          <a:ln/>
        </p:spPr>
        <p:txBody>
          <a:bodyPr wrap="square" rtlCol="0" anchor="t"/>
          <a:lstStyle/>
          <a:p>
            <a:pPr indent="0" marL="0">
              <a:lnSpc>
                <a:spcPct val="125000"/>
              </a:lnSpc>
              <a:buNone/>
            </a:pPr>
            <a:r>
              <a:rPr lang="en-US" sz="1300" dirty="0">
                <a:solidFill>
                  <a:srgbClr val="C9BBEA"/>
                </a:solidFill>
                <a:latin typeface="Calibri" pitchFamily="34" charset="0"/>
                <a:ea typeface="Calibri" pitchFamily="34" charset="-122"/>
                <a:cs typeface="Calibri" pitchFamily="34" charset="-120"/>
              </a:rPr>
              <a:t>Musik bukan pengganti usaha dan kesungguhan siswa dalam belajar, melainkan sarana pendukung yang digunakan secara bijak agar suasana belajar terasa lebih nyaman, tenang, dan terarah — melalui pemilihan jenis musik yang tepat, volume rendah sebagai latar, durasi terbatas, dan penyesuaian dengan tingkat kesulitan materi.</a:t>
            </a:r>
            <a:endParaRPr lang="en-US" sz="1300" dirty="0"/>
          </a:p>
        </p:txBody>
      </p:sp>
      <p:sp>
        <p:nvSpPr>
          <p:cNvPr id="12" name="Text 8"/>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13" name="Text 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5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00" kern="0" dirty="0">
                <a:solidFill>
                  <a:srgbClr val="E3B23C"/>
                </a:solidFill>
                <a:latin typeface="Calibri" pitchFamily="34" charset="0"/>
                <a:ea typeface="Calibri" pitchFamily="34" charset="-122"/>
                <a:cs typeface="Calibri" pitchFamily="34" charset="-120"/>
              </a:rPr>
              <a:t>BAB IV · PENUTUP</a:t>
            </a:r>
            <a:endParaRPr lang="en-US" sz="1250" dirty="0"/>
          </a:p>
        </p:txBody>
      </p:sp>
      <p:sp>
        <p:nvSpPr>
          <p:cNvPr id="3" name="Text 1"/>
          <p:cNvSpPr/>
          <p:nvPr/>
        </p:nvSpPr>
        <p:spPr>
          <a:xfrm>
            <a:off x="640080" y="786384"/>
            <a:ext cx="7315200" cy="502920"/>
          </a:xfrm>
          <a:prstGeom prst="rect">
            <a:avLst/>
          </a:prstGeom>
          <a:noFill/>
          <a:ln/>
        </p:spPr>
        <p:txBody>
          <a:bodyPr wrap="square" rtlCol="0" anchor="ctr"/>
          <a:lstStyle/>
          <a:p>
            <a:pPr indent="0" marL="0">
              <a:buNone/>
            </a:pPr>
            <a:r>
              <a:rPr lang="en-US" sz="2700" b="1" dirty="0">
                <a:solidFill>
                  <a:srgbClr val="2D1B4E"/>
                </a:solidFill>
                <a:latin typeface="Cambria" pitchFamily="34" charset="0"/>
                <a:ea typeface="Cambria" pitchFamily="34" charset="-122"/>
                <a:cs typeface="Cambria" pitchFamily="34" charset="-120"/>
              </a:rPr>
              <a:t>Saran</a:t>
            </a:r>
            <a:endParaRPr lang="en-US" sz="2700" dirty="0"/>
          </a:p>
        </p:txBody>
      </p:sp>
      <p:sp>
        <p:nvSpPr>
          <p:cNvPr id="4" name="Shape 2"/>
          <p:cNvSpPr/>
          <p:nvPr/>
        </p:nvSpPr>
        <p:spPr>
          <a:xfrm>
            <a:off x="640080" y="1600200"/>
            <a:ext cx="3502152" cy="4480560"/>
          </a:xfrm>
          <a:prstGeom prst="roundRect">
            <a:avLst>
              <a:gd name="adj" fmla="val 2089"/>
            </a:avLst>
          </a:prstGeom>
          <a:solidFill>
            <a:srgbClr val="FFFFFF"/>
          </a:solidFill>
          <a:ln w="12700">
            <a:solidFill>
              <a:srgbClr val="E4DCF2"/>
            </a:solidFill>
            <a:prstDash val="solid"/>
          </a:ln>
        </p:spPr>
      </p:sp>
      <p:sp>
        <p:nvSpPr>
          <p:cNvPr id="5" name="Shape 3"/>
          <p:cNvSpPr/>
          <p:nvPr/>
        </p:nvSpPr>
        <p:spPr>
          <a:xfrm>
            <a:off x="2025396" y="1920240"/>
            <a:ext cx="731520" cy="731520"/>
          </a:xfrm>
          <a:prstGeom prst="ellipse">
            <a:avLst/>
          </a:prstGeom>
          <a:solidFill>
            <a:srgbClr val="2D1B4E"/>
          </a:solidFill>
          <a:ln/>
        </p:spPr>
      </p:sp>
      <p:pic>
        <p:nvPicPr>
          <p:cNvPr id="6" name="Image 0" descr="/home/claude/kti-ppt/icon_users.png">    </p:cNvPr>
          <p:cNvPicPr>
            <a:picLocks noChangeAspect="1"/>
          </p:cNvPicPr>
          <p:nvPr/>
        </p:nvPicPr>
        <p:blipFill>
          <a:blip r:embed="rId1"/>
          <a:stretch>
            <a:fillRect/>
          </a:stretch>
        </p:blipFill>
        <p:spPr>
          <a:xfrm>
            <a:off x="2215591" y="2110435"/>
            <a:ext cx="351130" cy="351130"/>
          </a:xfrm>
          <a:prstGeom prst="rect">
            <a:avLst/>
          </a:prstGeom>
        </p:spPr>
      </p:pic>
      <p:sp>
        <p:nvSpPr>
          <p:cNvPr id="7" name="Text 4"/>
          <p:cNvSpPr/>
          <p:nvPr/>
        </p:nvSpPr>
        <p:spPr>
          <a:xfrm>
            <a:off x="868680" y="2834640"/>
            <a:ext cx="3044952" cy="457200"/>
          </a:xfrm>
          <a:prstGeom prst="rect">
            <a:avLst/>
          </a:prstGeom>
          <a:noFill/>
          <a:ln/>
        </p:spPr>
        <p:txBody>
          <a:bodyPr wrap="square" rtlCol="0" anchor="ctr"/>
          <a:lstStyle/>
          <a:p>
            <a:pPr algn="ctr" indent="0" marL="0">
              <a:buNone/>
            </a:pPr>
            <a:r>
              <a:rPr lang="en-US" sz="1500" b="1" dirty="0">
                <a:solidFill>
                  <a:srgbClr val="2D1B4E"/>
                </a:solidFill>
                <a:latin typeface="Cambria" pitchFamily="34" charset="0"/>
                <a:ea typeface="Cambria" pitchFamily="34" charset="-122"/>
                <a:cs typeface="Cambria" pitchFamily="34" charset="-120"/>
              </a:rPr>
              <a:t>a. Pembaca</a:t>
            </a:r>
            <a:endParaRPr lang="en-US" sz="1500" dirty="0"/>
          </a:p>
        </p:txBody>
      </p:sp>
      <p:sp>
        <p:nvSpPr>
          <p:cNvPr id="8" name="Text 5"/>
          <p:cNvSpPr/>
          <p:nvPr/>
        </p:nvSpPr>
        <p:spPr>
          <a:xfrm>
            <a:off x="914400" y="3383280"/>
            <a:ext cx="2953512" cy="2560320"/>
          </a:xfrm>
          <a:prstGeom prst="rect">
            <a:avLst/>
          </a:prstGeom>
          <a:noFill/>
          <a:ln/>
        </p:spPr>
        <p:txBody>
          <a:bodyPr wrap="square" rtlCol="0" anchor="t"/>
          <a:lstStyle/>
          <a:p>
            <a:pPr indent="0" marL="0">
              <a:lnSpc>
                <a:spcPct val="120000"/>
              </a:lnSpc>
              <a:buNone/>
            </a:pPr>
            <a:r>
              <a:rPr lang="en-US" sz="1150" dirty="0">
                <a:solidFill>
                  <a:srgbClr val="6E5F94"/>
                </a:solidFill>
                <a:latin typeface="Calibri" pitchFamily="34" charset="0"/>
                <a:ea typeface="Calibri" pitchFamily="34" charset="-122"/>
                <a:cs typeface="Calibri" pitchFamily="34" charset="-120"/>
              </a:rPr>
              <a:t>Siswa disarankan mengenali kebutuhan &amp; karakter belajarnya sebelum menggunakan musik, serta memperhatikan jenis, volume, dan durasi. Guru &amp; orang tua membimbing penggunaannya secara bijak.</a:t>
            </a:r>
            <a:endParaRPr lang="en-US" sz="1150" dirty="0"/>
          </a:p>
        </p:txBody>
      </p:sp>
      <p:sp>
        <p:nvSpPr>
          <p:cNvPr id="9" name="Shape 6"/>
          <p:cNvSpPr/>
          <p:nvPr/>
        </p:nvSpPr>
        <p:spPr>
          <a:xfrm>
            <a:off x="4416552" y="1600200"/>
            <a:ext cx="3502152" cy="4480560"/>
          </a:xfrm>
          <a:prstGeom prst="roundRect">
            <a:avLst>
              <a:gd name="adj" fmla="val 2089"/>
            </a:avLst>
          </a:prstGeom>
          <a:solidFill>
            <a:srgbClr val="2D1B4E"/>
          </a:solidFill>
          <a:ln w="12700">
            <a:solidFill>
              <a:srgbClr val="2D1B4E"/>
            </a:solidFill>
            <a:prstDash val="solid"/>
          </a:ln>
        </p:spPr>
      </p:sp>
      <p:sp>
        <p:nvSpPr>
          <p:cNvPr id="10" name="Shape 7"/>
          <p:cNvSpPr/>
          <p:nvPr/>
        </p:nvSpPr>
        <p:spPr>
          <a:xfrm>
            <a:off x="5801868" y="1920240"/>
            <a:ext cx="731520" cy="731520"/>
          </a:xfrm>
          <a:prstGeom prst="ellipse">
            <a:avLst/>
          </a:prstGeom>
          <a:solidFill>
            <a:srgbClr val="E3B23C"/>
          </a:solidFill>
          <a:ln/>
        </p:spPr>
      </p:sp>
      <p:pic>
        <p:nvPicPr>
          <p:cNvPr id="11" name="Image 1" descr="/home/claude/kti-ppt/icon_cap.png">    </p:cNvPr>
          <p:cNvPicPr>
            <a:picLocks noChangeAspect="1"/>
          </p:cNvPicPr>
          <p:nvPr/>
        </p:nvPicPr>
        <p:blipFill>
          <a:blip r:embed="rId2"/>
          <a:stretch>
            <a:fillRect/>
          </a:stretch>
        </p:blipFill>
        <p:spPr>
          <a:xfrm>
            <a:off x="5992063" y="2110435"/>
            <a:ext cx="351130" cy="351130"/>
          </a:xfrm>
          <a:prstGeom prst="rect">
            <a:avLst/>
          </a:prstGeom>
        </p:spPr>
      </p:pic>
      <p:sp>
        <p:nvSpPr>
          <p:cNvPr id="12" name="Text 8"/>
          <p:cNvSpPr/>
          <p:nvPr/>
        </p:nvSpPr>
        <p:spPr>
          <a:xfrm>
            <a:off x="4645152" y="2834640"/>
            <a:ext cx="3044952"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 Penulis Selanjutnya</a:t>
            </a:r>
            <a:endParaRPr lang="en-US" sz="1500" dirty="0"/>
          </a:p>
        </p:txBody>
      </p:sp>
      <p:sp>
        <p:nvSpPr>
          <p:cNvPr id="13" name="Text 9"/>
          <p:cNvSpPr/>
          <p:nvPr/>
        </p:nvSpPr>
        <p:spPr>
          <a:xfrm>
            <a:off x="4690872" y="3383280"/>
            <a:ext cx="2953512" cy="2560320"/>
          </a:xfrm>
          <a:prstGeom prst="rect">
            <a:avLst/>
          </a:prstGeom>
          <a:noFill/>
          <a:ln/>
        </p:spPr>
        <p:txBody>
          <a:bodyPr wrap="square" rtlCol="0" anchor="t"/>
          <a:lstStyle/>
          <a:p>
            <a:pPr indent="0" marL="0">
              <a:lnSpc>
                <a:spcPct val="120000"/>
              </a:lnSpc>
              <a:buNone/>
            </a:pPr>
            <a:r>
              <a:rPr lang="en-US" sz="1150" dirty="0">
                <a:solidFill>
                  <a:srgbClr val="C9BBEA"/>
                </a:solidFill>
                <a:latin typeface="Calibri" pitchFamily="34" charset="0"/>
                <a:ea typeface="Calibri" pitchFamily="34" charset="-122"/>
                <a:cs typeface="Calibri" pitchFamily="34" charset="-120"/>
              </a:rPr>
              <a:t>Karya tulis ini masih terbatas pada kajian pustaka. Disarankan penelitian lanjutan langsung (angket, wawancara, atau eksperimen) untuk gambaran lebih mendalam.</a:t>
            </a:r>
            <a:endParaRPr lang="en-US" sz="1150" dirty="0"/>
          </a:p>
        </p:txBody>
      </p:sp>
      <p:sp>
        <p:nvSpPr>
          <p:cNvPr id="14" name="Shape 10"/>
          <p:cNvSpPr/>
          <p:nvPr/>
        </p:nvSpPr>
        <p:spPr>
          <a:xfrm>
            <a:off x="8193024" y="1600200"/>
            <a:ext cx="3502152" cy="4480560"/>
          </a:xfrm>
          <a:prstGeom prst="roundRect">
            <a:avLst>
              <a:gd name="adj" fmla="val 2089"/>
            </a:avLst>
          </a:prstGeom>
          <a:solidFill>
            <a:srgbClr val="FFFFFF"/>
          </a:solidFill>
          <a:ln w="12700">
            <a:solidFill>
              <a:srgbClr val="E4DCF2"/>
            </a:solidFill>
            <a:prstDash val="solid"/>
          </a:ln>
        </p:spPr>
      </p:sp>
      <p:sp>
        <p:nvSpPr>
          <p:cNvPr id="15" name="Shape 11"/>
          <p:cNvSpPr/>
          <p:nvPr/>
        </p:nvSpPr>
        <p:spPr>
          <a:xfrm>
            <a:off x="9578340" y="1920240"/>
            <a:ext cx="731520" cy="731520"/>
          </a:xfrm>
          <a:prstGeom prst="ellipse">
            <a:avLst/>
          </a:prstGeom>
          <a:solidFill>
            <a:srgbClr val="2D1B4E"/>
          </a:solidFill>
          <a:ln/>
        </p:spPr>
      </p:sp>
      <p:pic>
        <p:nvPicPr>
          <p:cNvPr id="16" name="Image 2" descr="/home/claude/kti-ppt/icon_school.png">    </p:cNvPr>
          <p:cNvPicPr>
            <a:picLocks noChangeAspect="1"/>
          </p:cNvPicPr>
          <p:nvPr/>
        </p:nvPicPr>
        <p:blipFill>
          <a:blip r:embed="rId3"/>
          <a:stretch>
            <a:fillRect/>
          </a:stretch>
        </p:blipFill>
        <p:spPr>
          <a:xfrm>
            <a:off x="9768535" y="2110435"/>
            <a:ext cx="351130" cy="351130"/>
          </a:xfrm>
          <a:prstGeom prst="rect">
            <a:avLst/>
          </a:prstGeom>
        </p:spPr>
      </p:pic>
      <p:sp>
        <p:nvSpPr>
          <p:cNvPr id="17" name="Text 12"/>
          <p:cNvSpPr/>
          <p:nvPr/>
        </p:nvSpPr>
        <p:spPr>
          <a:xfrm>
            <a:off x="8421624" y="2834640"/>
            <a:ext cx="3044952" cy="457200"/>
          </a:xfrm>
          <a:prstGeom prst="rect">
            <a:avLst/>
          </a:prstGeom>
          <a:noFill/>
          <a:ln/>
        </p:spPr>
        <p:txBody>
          <a:bodyPr wrap="square" rtlCol="0" anchor="ctr"/>
          <a:lstStyle/>
          <a:p>
            <a:pPr algn="ctr" indent="0" marL="0">
              <a:buNone/>
            </a:pPr>
            <a:r>
              <a:rPr lang="en-US" sz="1500" b="1" dirty="0">
                <a:solidFill>
                  <a:srgbClr val="2D1B4E"/>
                </a:solidFill>
                <a:latin typeface="Cambria" pitchFamily="34" charset="0"/>
                <a:ea typeface="Cambria" pitchFamily="34" charset="-122"/>
                <a:cs typeface="Cambria" pitchFamily="34" charset="-120"/>
              </a:rPr>
              <a:t>c. Lembaga</a:t>
            </a:r>
            <a:endParaRPr lang="en-US" sz="1500" dirty="0"/>
          </a:p>
        </p:txBody>
      </p:sp>
      <p:sp>
        <p:nvSpPr>
          <p:cNvPr id="18" name="Text 13"/>
          <p:cNvSpPr/>
          <p:nvPr/>
        </p:nvSpPr>
        <p:spPr>
          <a:xfrm>
            <a:off x="8467344" y="3383280"/>
            <a:ext cx="2953512" cy="2560320"/>
          </a:xfrm>
          <a:prstGeom prst="rect">
            <a:avLst/>
          </a:prstGeom>
          <a:noFill/>
          <a:ln/>
        </p:spPr>
        <p:txBody>
          <a:bodyPr wrap="square" rtlCol="0" anchor="t"/>
          <a:lstStyle/>
          <a:p>
            <a:pPr indent="0" marL="0">
              <a:lnSpc>
                <a:spcPct val="120000"/>
              </a:lnSpc>
              <a:buNone/>
            </a:pPr>
            <a:r>
              <a:rPr lang="en-US" sz="1150" dirty="0">
                <a:solidFill>
                  <a:srgbClr val="6E5F94"/>
                </a:solidFill>
                <a:latin typeface="Calibri" pitchFamily="34" charset="0"/>
                <a:ea typeface="Calibri" pitchFamily="34" charset="-122"/>
                <a:cs typeface="Calibri" pitchFamily="34" charset="-120"/>
              </a:rPr>
              <a:t>Sekolah/pesantren disarankan memperhatikan suasana belajar yang kondusif, termasuk waktu atau tempat khusus bagi siswa yang terbantu musik saat belajar mandiri.</a:t>
            </a:r>
            <a:endParaRPr lang="en-US" sz="1150" dirty="0"/>
          </a:p>
        </p:txBody>
      </p:sp>
      <p:sp>
        <p:nvSpPr>
          <p:cNvPr id="19" name="Text 14"/>
          <p:cNvSpPr/>
          <p:nvPr/>
        </p:nvSpPr>
        <p:spPr>
          <a:xfrm>
            <a:off x="457200" y="6473952"/>
            <a:ext cx="7315200" cy="274320"/>
          </a:xfrm>
          <a:prstGeom prst="rect">
            <a:avLst/>
          </a:prstGeom>
          <a:noFill/>
          <a:ln/>
        </p:spPr>
        <p:txBody>
          <a:bodyPr wrap="square" rtlCol="0" anchor="ctr"/>
          <a:lstStyle/>
          <a:p>
            <a:pPr indent="0" marL="0">
              <a:buNone/>
            </a:pPr>
            <a:r>
              <a:rPr lang="en-US" sz="900" i="1" dirty="0">
                <a:solidFill>
                  <a:srgbClr val="6E5F94"/>
                </a:solidFill>
                <a:latin typeface="Calibri" pitchFamily="34" charset="0"/>
                <a:ea typeface="Calibri" pitchFamily="34" charset="-122"/>
                <a:cs typeface="Calibri" pitchFamily="34" charset="-120"/>
              </a:rPr>
              <a:t>Peran Musik Dalam Menciptakan Suasana Belajar</a:t>
            </a:r>
            <a:endParaRPr lang="en-US" sz="900" dirty="0"/>
          </a:p>
        </p:txBody>
      </p:sp>
      <p:sp>
        <p:nvSpPr>
          <p:cNvPr id="20"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E5F9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D1B4E"/>
        </a:solidFill>
      </p:bgPr>
    </p:bg>
    <p:spTree>
      <p:nvGrpSpPr>
        <p:cNvPr id="1" name=""/>
        <p:cNvGrpSpPr/>
        <p:nvPr/>
      </p:nvGrpSpPr>
      <p:grpSpPr>
        <a:xfrm>
          <a:off x="0" y="0"/>
          <a:ext cx="0" cy="0"/>
          <a:chOff x="0" y="0"/>
          <a:chExt cx="0" cy="0"/>
        </a:xfrm>
      </p:grpSpPr>
      <p:sp>
        <p:nvSpPr>
          <p:cNvPr id="2" name="Shape 0"/>
          <p:cNvSpPr/>
          <p:nvPr/>
        </p:nvSpPr>
        <p:spPr>
          <a:xfrm>
            <a:off x="-2286000" y="4114800"/>
            <a:ext cx="6400800" cy="6400800"/>
          </a:xfrm>
          <a:prstGeom prst="ellipse">
            <a:avLst/>
          </a:prstGeom>
          <a:solidFill>
            <a:srgbClr val="20143A"/>
          </a:solidFill>
          <a:ln/>
        </p:spPr>
      </p:sp>
      <p:sp>
        <p:nvSpPr>
          <p:cNvPr id="3" name="Text 1"/>
          <p:cNvSpPr/>
          <p:nvPr/>
        </p:nvSpPr>
        <p:spPr>
          <a:xfrm rot="-600000">
            <a:off x="1188720" y="100584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rot="900000">
            <a:off x="2011680" y="539496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5" name="Text 3"/>
          <p:cNvSpPr/>
          <p:nvPr/>
        </p:nvSpPr>
        <p:spPr>
          <a:xfrm rot="600000">
            <a:off x="10424160" y="118872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rot="-900000">
            <a:off x="9692640" y="521208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rot="300000">
            <a:off x="5852160" y="640080"/>
            <a:ext cx="548640" cy="548640"/>
          </a:xfrm>
          <a:prstGeom prst="rect">
            <a:avLst/>
          </a:prstGeom>
          <a:noFill/>
          <a:ln/>
        </p:spPr>
        <p:txBody>
          <a:bodyPr wrap="square" rtlCol="0" anchor="ctr"/>
          <a:lstStyle/>
          <a:p>
            <a:pPr algn="ctr" indent="0" marL="0">
              <a:buNone/>
            </a:pPr>
            <a:r>
              <a:rPr lang="en-US" sz="2600" dirty="0">
                <a:solidFill>
                  <a:srgbClr val="9C8FC4"/>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5591556" y="1737360"/>
            <a:ext cx="1005840" cy="1005840"/>
          </a:xfrm>
          <a:prstGeom prst="ellipse">
            <a:avLst/>
          </a:prstGeom>
          <a:solidFill>
            <a:srgbClr val="E3B23C"/>
          </a:solidFill>
          <a:ln/>
        </p:spPr>
      </p:sp>
      <p:pic>
        <p:nvPicPr>
          <p:cNvPr id="9" name="Image 0" descr="/home/claude/kti-ppt/icon_music.png">    </p:cNvPr>
          <p:cNvPicPr>
            <a:picLocks noChangeAspect="1"/>
          </p:cNvPicPr>
          <p:nvPr/>
        </p:nvPicPr>
        <p:blipFill>
          <a:blip r:embed="rId1"/>
          <a:stretch>
            <a:fillRect/>
          </a:stretch>
        </p:blipFill>
        <p:spPr>
          <a:xfrm>
            <a:off x="5853074" y="1998878"/>
            <a:ext cx="482803" cy="482803"/>
          </a:xfrm>
          <a:prstGeom prst="rect">
            <a:avLst/>
          </a:prstGeom>
        </p:spPr>
      </p:pic>
      <p:sp>
        <p:nvSpPr>
          <p:cNvPr id="10" name="Text 7"/>
          <p:cNvSpPr/>
          <p:nvPr/>
        </p:nvSpPr>
        <p:spPr>
          <a:xfrm>
            <a:off x="0" y="3017520"/>
            <a:ext cx="12188952" cy="82296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Terima Kasih</a:t>
            </a:r>
            <a:endParaRPr lang="en-US" sz="3800" dirty="0"/>
          </a:p>
        </p:txBody>
      </p:sp>
      <p:sp>
        <p:nvSpPr>
          <p:cNvPr id="11" name="Text 8"/>
          <p:cNvSpPr/>
          <p:nvPr/>
        </p:nvSpPr>
        <p:spPr>
          <a:xfrm>
            <a:off x="0" y="3794760"/>
            <a:ext cx="12188952" cy="457200"/>
          </a:xfrm>
          <a:prstGeom prst="rect">
            <a:avLst/>
          </a:prstGeom>
          <a:noFill/>
          <a:ln/>
        </p:spPr>
        <p:txBody>
          <a:bodyPr wrap="square" rtlCol="0" anchor="ctr"/>
          <a:lstStyle/>
          <a:p>
            <a:pPr algn="ctr" indent="0" marL="0">
              <a:buNone/>
            </a:pPr>
            <a:r>
              <a:rPr lang="en-US" sz="1500" i="1" dirty="0">
                <a:solidFill>
                  <a:srgbClr val="C9BBEA"/>
                </a:solidFill>
                <a:latin typeface="Calibri" pitchFamily="34" charset="0"/>
                <a:ea typeface="Calibri" pitchFamily="34" charset="-122"/>
                <a:cs typeface="Calibri" pitchFamily="34" charset="-120"/>
              </a:rPr>
              <a:t>Peran Musik Dalam Menciptakan Suasana Belajar</a:t>
            </a:r>
            <a:endParaRPr lang="en-US" sz="1500" dirty="0"/>
          </a:p>
        </p:txBody>
      </p:sp>
      <p:sp>
        <p:nvSpPr>
          <p:cNvPr id="12" name="Shape 9"/>
          <p:cNvSpPr/>
          <p:nvPr/>
        </p:nvSpPr>
        <p:spPr>
          <a:xfrm>
            <a:off x="5820156" y="4434840"/>
            <a:ext cx="548640" cy="32004"/>
          </a:xfrm>
          <a:prstGeom prst="rect">
            <a:avLst/>
          </a:prstGeom>
          <a:solidFill>
            <a:srgbClr val="E3B23C"/>
          </a:solidFill>
          <a:ln/>
        </p:spPr>
      </p:sp>
      <p:sp>
        <p:nvSpPr>
          <p:cNvPr id="13" name="Text 10"/>
          <p:cNvSpPr/>
          <p:nvPr/>
        </p:nvSpPr>
        <p:spPr>
          <a:xfrm>
            <a:off x="0" y="4663440"/>
            <a:ext cx="12188952" cy="365760"/>
          </a:xfrm>
          <a:prstGeom prst="rect">
            <a:avLst/>
          </a:prstGeom>
          <a:noFill/>
          <a:ln/>
        </p:spPr>
        <p:txBody>
          <a:bodyPr wrap="square" rtlCol="0" anchor="ctr"/>
          <a:lstStyle/>
          <a:p>
            <a:pPr algn="ctr" indent="0" marL="0">
              <a:buNone/>
            </a:pPr>
            <a:r>
              <a:rPr lang="en-US" sz="1250" dirty="0">
                <a:solidFill>
                  <a:srgbClr val="9C8FC4"/>
                </a:solidFill>
                <a:latin typeface="Calibri" pitchFamily="34" charset="0"/>
                <a:ea typeface="Calibri" pitchFamily="34" charset="-122"/>
                <a:cs typeface="Calibri" pitchFamily="34" charset="-120"/>
              </a:rPr>
              <a:t>Fachri Akbar Djaelani  ·  XII MIPA 1  ·  MA Persis Tarogong</a:t>
            </a:r>
            <a:endParaRPr lang="en-US" sz="1250" dirty="0"/>
          </a:p>
        </p:txBody>
      </p:sp>
      <p:sp>
        <p:nvSpPr>
          <p:cNvPr id="14" name="Text 11"/>
          <p:cNvSpPr/>
          <p:nvPr/>
        </p:nvSpPr>
        <p:spPr>
          <a:xfrm>
            <a:off x="0" y="5029200"/>
            <a:ext cx="12188952" cy="320040"/>
          </a:xfrm>
          <a:prstGeom prst="rect">
            <a:avLst/>
          </a:prstGeom>
          <a:noFill/>
          <a:ln/>
        </p:spPr>
        <p:txBody>
          <a:bodyPr wrap="square" rtlCol="0" anchor="ctr"/>
          <a:lstStyle/>
          <a:p>
            <a:pPr algn="ctr" indent="0" marL="0">
              <a:buNone/>
            </a:pPr>
            <a:r>
              <a:rPr lang="en-US" sz="1100" dirty="0">
                <a:solidFill>
                  <a:srgbClr val="9C8FC4"/>
                </a:solidFill>
                <a:latin typeface="Calibri" pitchFamily="34" charset="0"/>
                <a:ea typeface="Calibri" pitchFamily="34" charset="-122"/>
                <a:cs typeface="Calibri" pitchFamily="34" charset="-120"/>
              </a:rPr>
              <a:t>fadjaanugas@gmail.com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2026-09-18T22:20:30Z</dcterms:created>
  <dcterms:modified xsi:type="dcterms:W3CDTF">2026-09-18T22:20:30Z</dcterms:modified>
</cp:coreProperties>
</file>